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548640" y="640080"/>
            <a:ext cx="8229600" cy="36576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DOCUMENTO DE DISEÑO DEL PROYECTO INTEGRADOR  ·  U1E4</a:t>
            </a:r>
            <a:endParaRPr lang="en-US" sz="1300" dirty="0"/>
          </a:p>
        </p:txBody>
      </p:sp>
      <p:sp>
        <p:nvSpPr>
          <p:cNvPr id="3" name="Text 1"/>
          <p:cNvSpPr txBox="1"/>
          <p:nvPr/>
        </p:nvSpPr>
        <p:spPr>
          <a:xfrm>
            <a:off x="548640" y="1143000"/>
            <a:ext cx="8686800" cy="1645920"/>
          </a:xfrm>
          <a:prstGeom prst="rect">
            <a:avLst/>
          </a:prstGeom>
          <a:noFill/>
          <a:ln/>
        </p:spPr>
        <p:txBody>
          <a:bodyPr wrap="square" lIns="0" tIns="0" rIns="0" bIns="0" rtlCol="0" anchor="ctr"/>
          <a:lstStyle/>
          <a:p>
            <a:pPr indent="0" marL="0">
              <a:lnSpc>
                <a:spcPts val="5600"/>
              </a:lnSpc>
              <a:buNone/>
            </a:pPr>
            <a:r>
              <a:rPr lang="en-US" sz="5400" b="1" dirty="0">
                <a:solidFill>
                  <a:srgbClr val="FFFFFF"/>
                </a:solidFill>
                <a:latin typeface="Bookman Old Style" pitchFamily="34" charset="0"/>
                <a:ea typeface="Bookman Old Style" pitchFamily="34" charset="-122"/>
                <a:cs typeface="Bookman Old Style" pitchFamily="34" charset="-120"/>
              </a:rPr>
              <a:t>LITTLE BEARSTARDS</a:t>
            </a:r>
            <a:endParaRPr lang="en-US" sz="5400" dirty="0"/>
          </a:p>
        </p:txBody>
      </p:sp>
      <p:sp>
        <p:nvSpPr>
          <p:cNvPr id="4" name="Text 2"/>
          <p:cNvSpPr txBox="1"/>
          <p:nvPr/>
        </p:nvSpPr>
        <p:spPr>
          <a:xfrm>
            <a:off x="548640" y="2788920"/>
            <a:ext cx="7315200" cy="731520"/>
          </a:xfrm>
          <a:prstGeom prst="rect">
            <a:avLst/>
          </a:prstGeom>
          <a:noFill/>
          <a:ln/>
        </p:spPr>
        <p:txBody>
          <a:bodyPr wrap="square" lIns="0" tIns="0" rIns="0" bIns="0" rtlCol="0" anchor="ctr"/>
          <a:lstStyle/>
          <a:p>
            <a:pPr indent="0" marL="0">
              <a:spcAft>
                <a:spcPts val="400"/>
              </a:spcAft>
              <a:buNone/>
            </a:pPr>
            <a:r>
              <a:rPr lang="en-US" sz="1600" i="1" dirty="0">
                <a:solidFill>
                  <a:srgbClr val="E8E3DA"/>
                </a:solidFill>
                <a:latin typeface="Calibri" pitchFamily="34" charset="0"/>
                <a:ea typeface="Calibri" pitchFamily="34" charset="-122"/>
                <a:cs typeface="Calibri" pitchFamily="34" charset="-120"/>
              </a:rPr>
              <a:t>(Bastardosos)</a:t>
            </a:r>
            <a:endParaRPr lang="en-US" sz="1600" dirty="0"/>
          </a:p>
          <a:p>
            <a:pPr indent="0" marL="0">
              <a:spcAft>
                <a:spcPts val="400"/>
              </a:spcAft>
              <a:buNone/>
            </a:pPr>
            <a:r>
              <a:rPr lang="en-US" sz="1600" i="1" dirty="0">
                <a:solidFill>
                  <a:srgbClr val="E8E3DA"/>
                </a:solidFill>
                <a:latin typeface="Calibri" pitchFamily="34" charset="0"/>
                <a:ea typeface="Calibri" pitchFamily="34" charset="-122"/>
                <a:cs typeface="Calibri" pitchFamily="34" charset="-120"/>
              </a:rPr>
              <a:t>Una tienda. Un pasillo. El último juguete.</a:t>
            </a:r>
            <a:endParaRPr lang="en-US" sz="1600" dirty="0"/>
          </a:p>
        </p:txBody>
      </p:sp>
      <p:sp>
        <p:nvSpPr>
          <p:cNvPr id="5" name="Shape 3"/>
          <p:cNvSpPr/>
          <p:nvPr/>
        </p:nvSpPr>
        <p:spPr>
          <a:xfrm>
            <a:off x="8778240" y="1005840"/>
            <a:ext cx="2834640" cy="2286000"/>
          </a:xfrm>
          <a:prstGeom prst="rect">
            <a:avLst/>
          </a:prstGeom>
          <a:solidFill>
            <a:srgbClr val="2E2E2E"/>
          </a:solidFill>
          <a:ln/>
        </p:spPr>
      </p:sp>
      <p:sp>
        <p:nvSpPr>
          <p:cNvPr id="6" name="Text 4"/>
          <p:cNvSpPr txBox="1"/>
          <p:nvPr/>
        </p:nvSpPr>
        <p:spPr>
          <a:xfrm>
            <a:off x="8778240" y="3017520"/>
            <a:ext cx="283464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VISTA FRONTAL · OSO JUGABLE</a:t>
            </a:r>
            <a:endParaRPr lang="en-US" sz="900" dirty="0"/>
          </a:p>
        </p:txBody>
      </p:sp>
      <p:sp>
        <p:nvSpPr>
          <p:cNvPr id="7" name="Shape 5"/>
          <p:cNvSpPr/>
          <p:nvPr/>
        </p:nvSpPr>
        <p:spPr>
          <a:xfrm>
            <a:off x="0" y="3977640"/>
            <a:ext cx="12191695" cy="54864"/>
          </a:xfrm>
          <a:prstGeom prst="rect">
            <a:avLst/>
          </a:prstGeom>
          <a:solidFill>
            <a:srgbClr val="B5342E"/>
          </a:solidFill>
          <a:ln/>
        </p:spPr>
      </p:sp>
      <p:sp>
        <p:nvSpPr>
          <p:cNvPr id="8" name="Text 6"/>
          <p:cNvSpPr txBox="1"/>
          <p:nvPr/>
        </p:nvSpPr>
        <p:spPr>
          <a:xfrm>
            <a:off x="548640" y="4343400"/>
            <a:ext cx="4572000" cy="274320"/>
          </a:xfrm>
          <a:prstGeom prst="rect">
            <a:avLst/>
          </a:prstGeom>
          <a:noFill/>
          <a:ln/>
        </p:spPr>
        <p:txBody>
          <a:bodyPr wrap="square" lIns="0" tIns="0" rIns="0" bIns="0" rtlCol="0" anchor="ctr"/>
          <a:lstStyle/>
          <a:p>
            <a:pPr indent="0" marL="0">
              <a:buNone/>
            </a:pPr>
            <a:r>
              <a:rPr lang="en-US" sz="1200" b="1" spc="200" kern="0" dirty="0">
                <a:solidFill>
                  <a:srgbClr val="B5342E"/>
                </a:solidFill>
                <a:latin typeface="Calibri" pitchFamily="34" charset="0"/>
                <a:ea typeface="Calibri" pitchFamily="34" charset="-122"/>
                <a:cs typeface="Calibri" pitchFamily="34" charset="-120"/>
              </a:rPr>
              <a:t>EQUIPO</a:t>
            </a:r>
            <a:endParaRPr lang="en-US" sz="1200" dirty="0"/>
          </a:p>
        </p:txBody>
      </p:sp>
      <p:sp>
        <p:nvSpPr>
          <p:cNvPr id="9" name="Text 7"/>
          <p:cNvSpPr txBox="1"/>
          <p:nvPr/>
        </p:nvSpPr>
        <p:spPr>
          <a:xfrm>
            <a:off x="548640" y="4617720"/>
            <a:ext cx="5486400" cy="502920"/>
          </a:xfrm>
          <a:prstGeom prst="rect">
            <a:avLst/>
          </a:prstGeom>
          <a:noFill/>
          <a:ln/>
        </p:spPr>
        <p:txBody>
          <a:bodyPr wrap="square" lIns="0" tIns="0" rIns="0" bIns="0" rtlCol="0" anchor="ctr"/>
          <a:lstStyle/>
          <a:p>
            <a:pPr indent="0" marL="0">
              <a:buNone/>
            </a:pPr>
            <a:r>
              <a:rPr lang="en-US" sz="2600" b="1" dirty="0">
                <a:solidFill>
                  <a:srgbClr val="FFFFFF"/>
                </a:solidFill>
                <a:latin typeface="Bookman Old Style" pitchFamily="34" charset="0"/>
                <a:ea typeface="Bookman Old Style" pitchFamily="34" charset="-122"/>
                <a:cs typeface="Bookman Old Style" pitchFamily="34" charset="-120"/>
              </a:rPr>
              <a:t>Turbo Studios</a:t>
            </a:r>
            <a:endParaRPr lang="en-US" sz="2600" dirty="0"/>
          </a:p>
        </p:txBody>
      </p:sp>
      <p:sp>
        <p:nvSpPr>
          <p:cNvPr id="10" name="Text 8"/>
          <p:cNvSpPr txBox="1"/>
          <p:nvPr/>
        </p:nvSpPr>
        <p:spPr>
          <a:xfrm>
            <a:off x="548640" y="5257800"/>
            <a:ext cx="10515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Ángel David Arras Orozco  </a:t>
            </a:r>
            <a:pPr indent="0" marL="0">
              <a:buNone/>
            </a:pPr>
            <a:r>
              <a:rPr lang="en-US" sz="1150" dirty="0">
                <a:solidFill>
                  <a:srgbClr val="6B6B6B"/>
                </a:solidFill>
                <a:latin typeface="Calibri" pitchFamily="34" charset="0"/>
                <a:ea typeface="Calibri" pitchFamily="34" charset="-122"/>
                <a:cs typeface="Calibri" pitchFamily="34" charset="-120"/>
              </a:rPr>
              <a:t>Scrum Master</a:t>
            </a:r>
            <a:endParaRPr lang="en-US" sz="1150" dirty="0"/>
          </a:p>
        </p:txBody>
      </p:sp>
      <p:sp>
        <p:nvSpPr>
          <p:cNvPr id="11" name="Text 9"/>
          <p:cNvSpPr txBox="1"/>
          <p:nvPr/>
        </p:nvSpPr>
        <p:spPr>
          <a:xfrm>
            <a:off x="548640" y="5504688"/>
            <a:ext cx="10515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Guillermo Martínez Delgadillo  </a:t>
            </a:r>
            <a:pPr indent="0" marL="0">
              <a:buNone/>
            </a:pPr>
            <a:r>
              <a:rPr lang="en-US" sz="1150" dirty="0">
                <a:solidFill>
                  <a:srgbClr val="6B6B6B"/>
                </a:solidFill>
                <a:latin typeface="Calibri" pitchFamily="34" charset="0"/>
                <a:ea typeface="Calibri" pitchFamily="34" charset="-122"/>
                <a:cs typeface="Calibri" pitchFamily="34" charset="-120"/>
              </a:rPr>
              <a:t>Product Owner</a:t>
            </a:r>
            <a:endParaRPr lang="en-US" sz="1150" dirty="0"/>
          </a:p>
        </p:txBody>
      </p:sp>
      <p:sp>
        <p:nvSpPr>
          <p:cNvPr id="12" name="Text 10"/>
          <p:cNvSpPr txBox="1"/>
          <p:nvPr/>
        </p:nvSpPr>
        <p:spPr>
          <a:xfrm>
            <a:off x="548640" y="5751576"/>
            <a:ext cx="10515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Víctor Hugo Baeza Rocha  </a:t>
            </a:r>
            <a:pPr indent="0" marL="0">
              <a:buNone/>
            </a:pPr>
            <a:r>
              <a:rPr lang="en-US" sz="1150" dirty="0">
                <a:solidFill>
                  <a:srgbClr val="6B6B6B"/>
                </a:solidFill>
                <a:latin typeface="Calibri" pitchFamily="34" charset="0"/>
                <a:ea typeface="Calibri" pitchFamily="34" charset="-122"/>
                <a:cs typeface="Calibri" pitchFamily="34" charset="-120"/>
              </a:rPr>
              <a:t>Developer · Arte 3D y animación</a:t>
            </a:r>
            <a:endParaRPr lang="en-US" sz="1150" dirty="0"/>
          </a:p>
        </p:txBody>
      </p:sp>
      <p:sp>
        <p:nvSpPr>
          <p:cNvPr id="13" name="Text 11"/>
          <p:cNvSpPr txBox="1"/>
          <p:nvPr/>
        </p:nvSpPr>
        <p:spPr>
          <a:xfrm>
            <a:off x="548640" y="5998464"/>
            <a:ext cx="10515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Ángel Guillermo González Gómez  </a:t>
            </a:r>
            <a:pPr indent="0" marL="0">
              <a:buNone/>
            </a:pPr>
            <a:r>
              <a:rPr lang="en-US" sz="1150" dirty="0">
                <a:solidFill>
                  <a:srgbClr val="6B6B6B"/>
                </a:solidFill>
                <a:latin typeface="Calibri" pitchFamily="34" charset="0"/>
                <a:ea typeface="Calibri" pitchFamily="34" charset="-122"/>
                <a:cs typeface="Calibri" pitchFamily="34" charset="-120"/>
              </a:rPr>
              <a:t>Developer · Gameplay y arquitectura</a:t>
            </a:r>
            <a:endParaRPr lang="en-US" sz="1150" dirty="0"/>
          </a:p>
        </p:txBody>
      </p:sp>
      <p:sp>
        <p:nvSpPr>
          <p:cNvPr id="14" name="Text 12"/>
          <p:cNvSpPr txBox="1"/>
          <p:nvPr/>
        </p:nvSpPr>
        <p:spPr>
          <a:xfrm>
            <a:off x="548640" y="6245352"/>
            <a:ext cx="10515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Jesús Arturo Castilla González  </a:t>
            </a:r>
            <a:pPr indent="0" marL="0">
              <a:buNone/>
            </a:pPr>
            <a:r>
              <a:rPr lang="en-US" sz="1150" dirty="0">
                <a:solidFill>
                  <a:srgbClr val="6B6B6B"/>
                </a:solidFill>
                <a:latin typeface="Calibri" pitchFamily="34" charset="0"/>
                <a:ea typeface="Calibri" pitchFamily="34" charset="-122"/>
                <a:cs typeface="Calibri" pitchFamily="34" charset="-120"/>
              </a:rPr>
              <a:t>Developer · IA de NPCs, detección y puntos</a:t>
            </a:r>
            <a:endParaRPr lang="en-US" sz="1150" dirty="0"/>
          </a:p>
        </p:txBody>
      </p:sp>
      <p:sp>
        <p:nvSpPr>
          <p:cNvPr id="15" name="Text 13"/>
          <p:cNvSpPr txBox="1"/>
          <p:nvPr/>
        </p:nvSpPr>
        <p:spPr>
          <a:xfrm>
            <a:off x="548640" y="6492240"/>
            <a:ext cx="10515600" cy="23774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Dylan Muñoz Flores  </a:t>
            </a:r>
            <a:pPr indent="0" marL="0">
              <a:buNone/>
            </a:pPr>
            <a:r>
              <a:rPr lang="en-US" sz="1150" dirty="0">
                <a:solidFill>
                  <a:srgbClr val="6B6B6B"/>
                </a:solidFill>
                <a:latin typeface="Calibri" pitchFamily="34" charset="0"/>
                <a:ea typeface="Calibri" pitchFamily="34" charset="-122"/>
                <a:cs typeface="Calibri" pitchFamily="34" charset="-120"/>
              </a:rPr>
              <a:t>Developer · Red, integración y HUD</a:t>
            </a:r>
            <a:endParaRPr lang="en-US" sz="1150" dirty="0"/>
          </a:p>
        </p:txBody>
      </p:sp>
      <p:sp>
        <p:nvSpPr>
          <p:cNvPr id="16" name="Text 14"/>
          <p:cNvSpPr txBox="1"/>
          <p:nvPr/>
        </p:nvSpPr>
        <p:spPr>
          <a:xfrm>
            <a:off x="548640" y="6492240"/>
            <a:ext cx="11064240" cy="274320"/>
          </a:xfrm>
          <a:prstGeom prst="rect">
            <a:avLst/>
          </a:prstGeom>
          <a:noFill/>
          <a:ln/>
        </p:spPr>
        <p:txBody>
          <a:bodyPr wrap="square" lIns="0" tIns="0" rIns="0" bIns="0" rtlCol="0" anchor="ctr"/>
          <a:lstStyle/>
          <a:p>
            <a:pPr indent="0" marL="0">
              <a:buNone/>
            </a:pPr>
            <a:r>
              <a:rPr lang="en-US" sz="950" dirty="0">
                <a:solidFill>
                  <a:srgbClr val="6B6B6B"/>
                </a:solidFill>
                <a:latin typeface="Calibri" pitchFamily="34" charset="0"/>
                <a:ea typeface="Calibri" pitchFamily="34" charset="-122"/>
                <a:cs typeface="Calibri" pitchFamily="34" charset="-120"/>
              </a:rPr>
              <a:t>Universidad Tecnológica de Chihuahua · Ingeniería en Desarrollo y Gestión de Software · Grupo IDGS101N   |   Motor: Unity · Plataforma: PC · Actualizado el 6 de octubre de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RESUMEN</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Ficha técnica</a:t>
            </a:r>
            <a:endParaRPr lang="en-US" sz="3200" dirty="0"/>
          </a:p>
        </p:txBody>
      </p:sp>
      <p:sp>
        <p:nvSpPr>
          <p:cNvPr id="4" name="Text 2"/>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Este documento formaliza el diseño de Little Bearstards a partir del Portafolio 1 y la hoja de balance del equipo. No agrega un proyecto nuevo: precisa reglas, contenido y alcance para la implementación en Unity.</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108960"/>
                <a:gridCol w="8531352"/>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Campo</a:t>
                      </a:r>
                      <a:endParaRPr lang="en-US" sz="11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Definición</a:t>
                      </a:r>
                      <a:endParaRPr lang="en-US" sz="11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Nombre</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Little Bearstards (título alterno: Bastardosos)</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Género</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Stealth PvP con deducción social y acción</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Plataforma / control</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PC (Windows) · teclado y mouse</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Motor y herramientas</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Unity (C#) · modelos 3D en Blender · multijugador con Photon PUN2 · estadísticas en PWA (Django)</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Jugadores</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2, duelo 1 vs 1 en línea (cada jugador controla un oso)</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Duración de partida</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10 a 15 minutos, con temporizador, dividida en 3 fases</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Condición de victoria</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Gana el jugador con más puntos al agotarse el tiempo; al ser eliminado, el jugador reaparece (respawn)</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Estilo visual</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Low poly, colores neutros, animación tipo muñeco de trapo (ragdoll)</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Clasificación sugerida</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2 · Ficha técnica</a:t>
            </a:r>
            <a:endParaRPr lang="en-US" sz="1000" dirty="0"/>
          </a:p>
        </p:txBody>
      </p:sp>
      <p:sp>
        <p:nvSpPr>
          <p:cNvPr id="7" name="Text 4"/>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1</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Género</a:t>
            </a:r>
            <a:endParaRPr lang="en-US" sz="3200" dirty="0"/>
          </a:p>
        </p:txBody>
      </p:sp>
      <p:sp>
        <p:nvSpPr>
          <p:cNvPr id="4" name="Text 2"/>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Little Bearstards es un </a:t>
            </a:r>
            <a:pPr indent="0" marL="0">
              <a:buNone/>
            </a:pPr>
            <a:r>
              <a:rPr lang="en-US" sz="1400" b="1" dirty="0">
                <a:solidFill>
                  <a:srgbClr val="1A1A1A"/>
                </a:solidFill>
                <a:latin typeface="Calibri" pitchFamily="34" charset="0"/>
                <a:ea typeface="Calibri" pitchFamily="34" charset="-122"/>
                <a:cs typeface="Calibri" pitchFamily="34" charset="-120"/>
              </a:rPr>
              <a:t>stealth PvP con deducción social y elementos de acción</a:t>
            </a:r>
            <a:pPr indent="0" marL="0">
              <a:buNone/>
            </a:pPr>
            <a:r>
              <a:rPr lang="en-US" sz="1400" dirty="0">
                <a:solidFill>
                  <a:srgbClr val="1A1A1A"/>
                </a:solidFill>
                <a:latin typeface="Calibri" pitchFamily="34" charset="0"/>
                <a:ea typeface="Calibri" pitchFamily="34" charset="-122"/>
                <a:cs typeface="Calibri" pitchFamily="34" charset="-120"/>
              </a:rPr>
              <a:t>. Cada componente de la clasificación corresponde a una mecánica concreta.</a:t>
            </a:r>
            <a:endParaRPr lang="en-US" sz="1400" dirty="0"/>
          </a:p>
        </p:txBody>
      </p:sp>
      <p:sp>
        <p:nvSpPr>
          <p:cNvPr id="5" name="Shape 3"/>
          <p:cNvSpPr/>
          <p:nvPr/>
        </p:nvSpPr>
        <p:spPr>
          <a:xfrm>
            <a:off x="548640" y="2103120"/>
            <a:ext cx="2606040" cy="3566160"/>
          </a:xfrm>
          <a:prstGeom prst="rect">
            <a:avLst/>
          </a:prstGeom>
          <a:solidFill>
            <a:srgbClr val="FAFAF9"/>
          </a:solidFill>
          <a:ln w="12700">
            <a:solidFill>
              <a:srgbClr val="E6E6E6"/>
            </a:solidFill>
            <a:prstDash val="solid"/>
          </a:ln>
        </p:spPr>
      </p:sp>
      <p:sp>
        <p:nvSpPr>
          <p:cNvPr id="6" name="Shape 4"/>
          <p:cNvSpPr/>
          <p:nvPr/>
        </p:nvSpPr>
        <p:spPr>
          <a:xfrm>
            <a:off x="548640" y="2103120"/>
            <a:ext cx="2606040" cy="109728"/>
          </a:xfrm>
          <a:prstGeom prst="rect">
            <a:avLst/>
          </a:prstGeom>
          <a:solidFill>
            <a:srgbClr val="B5342E"/>
          </a:solidFill>
          <a:ln/>
        </p:spPr>
      </p:sp>
      <p:sp>
        <p:nvSpPr>
          <p:cNvPr id="7" name="Text 5"/>
          <p:cNvSpPr txBox="1"/>
          <p:nvPr/>
        </p:nvSpPr>
        <p:spPr>
          <a:xfrm>
            <a:off x="713232" y="2423160"/>
            <a:ext cx="2276856" cy="457200"/>
          </a:xfrm>
          <a:prstGeom prst="rect">
            <a:avLst/>
          </a:prstGeom>
          <a:noFill/>
          <a:ln/>
        </p:spPr>
        <p:txBody>
          <a:bodyPr wrap="square" lIns="0" tIns="0" rIns="0" bIns="0" rtlCol="0" anchor="ctr"/>
          <a:lstStyle/>
          <a:p>
            <a:pPr indent="0" marL="0">
              <a:buNone/>
            </a:pPr>
            <a:r>
              <a:rPr lang="en-US" sz="1600" b="1" dirty="0">
                <a:solidFill>
                  <a:srgbClr val="1A1A1A"/>
                </a:solidFill>
                <a:latin typeface="Bookman Old Style" pitchFamily="34" charset="0"/>
                <a:ea typeface="Bookman Old Style" pitchFamily="34" charset="-122"/>
                <a:cs typeface="Bookman Old Style" pitchFamily="34" charset="-120"/>
              </a:rPr>
              <a:t>Sigilo (stealth)</a:t>
            </a:r>
            <a:endParaRPr lang="en-US" sz="1600" dirty="0"/>
          </a:p>
        </p:txBody>
      </p:sp>
      <p:sp>
        <p:nvSpPr>
          <p:cNvPr id="8" name="Text 6"/>
          <p:cNvSpPr txBox="1"/>
          <p:nvPr/>
        </p:nvSpPr>
        <p:spPr>
          <a:xfrm>
            <a:off x="713232" y="2971800"/>
            <a:ext cx="2276856" cy="246888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El jugador se oculta comportándose como un NPC más. Solo tres acciones lo delatan: correr, brincar y portar un arma. Las eliminaciones sin ser visto valen más puntos.</a:t>
            </a:r>
            <a:endParaRPr lang="en-US" sz="1100" dirty="0"/>
          </a:p>
        </p:txBody>
      </p:sp>
      <p:sp>
        <p:nvSpPr>
          <p:cNvPr id="9" name="Shape 7"/>
          <p:cNvSpPr/>
          <p:nvPr/>
        </p:nvSpPr>
        <p:spPr>
          <a:xfrm>
            <a:off x="3383280" y="2103120"/>
            <a:ext cx="2606040" cy="3566160"/>
          </a:xfrm>
          <a:prstGeom prst="rect">
            <a:avLst/>
          </a:prstGeom>
          <a:solidFill>
            <a:srgbClr val="FAFAF9"/>
          </a:solidFill>
          <a:ln w="12700">
            <a:solidFill>
              <a:srgbClr val="E6E6E6"/>
            </a:solidFill>
            <a:prstDash val="solid"/>
          </a:ln>
        </p:spPr>
      </p:sp>
      <p:sp>
        <p:nvSpPr>
          <p:cNvPr id="10" name="Shape 8"/>
          <p:cNvSpPr/>
          <p:nvPr/>
        </p:nvSpPr>
        <p:spPr>
          <a:xfrm>
            <a:off x="3383280" y="2103120"/>
            <a:ext cx="2606040" cy="109728"/>
          </a:xfrm>
          <a:prstGeom prst="rect">
            <a:avLst/>
          </a:prstGeom>
          <a:solidFill>
            <a:srgbClr val="3F4A3A"/>
          </a:solidFill>
          <a:ln/>
        </p:spPr>
      </p:sp>
      <p:sp>
        <p:nvSpPr>
          <p:cNvPr id="11" name="Text 9"/>
          <p:cNvSpPr txBox="1"/>
          <p:nvPr/>
        </p:nvSpPr>
        <p:spPr>
          <a:xfrm>
            <a:off x="3547872" y="2423160"/>
            <a:ext cx="2276856" cy="457200"/>
          </a:xfrm>
          <a:prstGeom prst="rect">
            <a:avLst/>
          </a:prstGeom>
          <a:noFill/>
          <a:ln/>
        </p:spPr>
        <p:txBody>
          <a:bodyPr wrap="square" lIns="0" tIns="0" rIns="0" bIns="0" rtlCol="0" anchor="ctr"/>
          <a:lstStyle/>
          <a:p>
            <a:pPr indent="0" marL="0">
              <a:buNone/>
            </a:pPr>
            <a:r>
              <a:rPr lang="en-US" sz="1600" b="1" dirty="0">
                <a:solidFill>
                  <a:srgbClr val="1A1A1A"/>
                </a:solidFill>
                <a:latin typeface="Bookman Old Style" pitchFamily="34" charset="0"/>
                <a:ea typeface="Bookman Old Style" pitchFamily="34" charset="-122"/>
                <a:cs typeface="Bookman Old Style" pitchFamily="34" charset="-120"/>
              </a:rPr>
              <a:t>PvP</a:t>
            </a:r>
            <a:endParaRPr lang="en-US" sz="1600" dirty="0"/>
          </a:p>
        </p:txBody>
      </p:sp>
      <p:sp>
        <p:nvSpPr>
          <p:cNvPr id="12" name="Text 10"/>
          <p:cNvSpPr txBox="1"/>
          <p:nvPr/>
        </p:nvSpPr>
        <p:spPr>
          <a:xfrm>
            <a:off x="3547872" y="2971800"/>
            <a:ext cx="2276856" cy="246888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Dos jugadores humanos compiten directamente entre sí en línea; no hay campaña contra la máquina.</a:t>
            </a:r>
            <a:endParaRPr lang="en-US" sz="1100" dirty="0"/>
          </a:p>
        </p:txBody>
      </p:sp>
      <p:sp>
        <p:nvSpPr>
          <p:cNvPr id="13" name="Shape 11"/>
          <p:cNvSpPr/>
          <p:nvPr/>
        </p:nvSpPr>
        <p:spPr>
          <a:xfrm>
            <a:off x="6217920" y="2103120"/>
            <a:ext cx="2606040" cy="3566160"/>
          </a:xfrm>
          <a:prstGeom prst="rect">
            <a:avLst/>
          </a:prstGeom>
          <a:solidFill>
            <a:srgbClr val="FAFAF9"/>
          </a:solidFill>
          <a:ln w="12700">
            <a:solidFill>
              <a:srgbClr val="E6E6E6"/>
            </a:solidFill>
            <a:prstDash val="solid"/>
          </a:ln>
        </p:spPr>
      </p:sp>
      <p:sp>
        <p:nvSpPr>
          <p:cNvPr id="14" name="Shape 12"/>
          <p:cNvSpPr/>
          <p:nvPr/>
        </p:nvSpPr>
        <p:spPr>
          <a:xfrm>
            <a:off x="6217920" y="2103120"/>
            <a:ext cx="2606040" cy="109728"/>
          </a:xfrm>
          <a:prstGeom prst="rect">
            <a:avLst/>
          </a:prstGeom>
          <a:solidFill>
            <a:srgbClr val="D9A441"/>
          </a:solidFill>
          <a:ln/>
        </p:spPr>
      </p:sp>
      <p:sp>
        <p:nvSpPr>
          <p:cNvPr id="15" name="Text 13"/>
          <p:cNvSpPr txBox="1"/>
          <p:nvPr/>
        </p:nvSpPr>
        <p:spPr>
          <a:xfrm>
            <a:off x="6382512" y="2423160"/>
            <a:ext cx="2276856" cy="457200"/>
          </a:xfrm>
          <a:prstGeom prst="rect">
            <a:avLst/>
          </a:prstGeom>
          <a:noFill/>
          <a:ln/>
        </p:spPr>
        <p:txBody>
          <a:bodyPr wrap="square" lIns="0" tIns="0" rIns="0" bIns="0" rtlCol="0" anchor="ctr"/>
          <a:lstStyle/>
          <a:p>
            <a:pPr indent="0" marL="0">
              <a:buNone/>
            </a:pPr>
            <a:r>
              <a:rPr lang="en-US" sz="1600" b="1" dirty="0">
                <a:solidFill>
                  <a:srgbClr val="1A1A1A"/>
                </a:solidFill>
                <a:latin typeface="Bookman Old Style" pitchFamily="34" charset="0"/>
                <a:ea typeface="Bookman Old Style" pitchFamily="34" charset="-122"/>
                <a:cs typeface="Bookman Old Style" pitchFamily="34" charset="-120"/>
              </a:rPr>
              <a:t>Deducción social</a:t>
            </a:r>
            <a:endParaRPr lang="en-US" sz="1600" dirty="0"/>
          </a:p>
        </p:txBody>
      </p:sp>
      <p:sp>
        <p:nvSpPr>
          <p:cNvPr id="16" name="Text 14"/>
          <p:cNvSpPr txBox="1"/>
          <p:nvPr/>
        </p:nvSpPr>
        <p:spPr>
          <a:xfrm>
            <a:off x="6382512" y="2971800"/>
            <a:ext cx="2276856" cy="246888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El pasillo está lleno de osos NPC casi idénticos a los jugadores. Antes de atacar hay que observar comportamientos y deducir cuál es el rival real; equivocarse resta puntos.</a:t>
            </a:r>
            <a:endParaRPr lang="en-US" sz="1100" dirty="0"/>
          </a:p>
        </p:txBody>
      </p:sp>
      <p:sp>
        <p:nvSpPr>
          <p:cNvPr id="17" name="Shape 15"/>
          <p:cNvSpPr/>
          <p:nvPr/>
        </p:nvSpPr>
        <p:spPr>
          <a:xfrm>
            <a:off x="9052560" y="2103120"/>
            <a:ext cx="2606040" cy="3566160"/>
          </a:xfrm>
          <a:prstGeom prst="rect">
            <a:avLst/>
          </a:prstGeom>
          <a:solidFill>
            <a:srgbClr val="FAFAF9"/>
          </a:solidFill>
          <a:ln w="12700">
            <a:solidFill>
              <a:srgbClr val="E6E6E6"/>
            </a:solidFill>
            <a:prstDash val="solid"/>
          </a:ln>
        </p:spPr>
      </p:sp>
      <p:sp>
        <p:nvSpPr>
          <p:cNvPr id="18" name="Shape 16"/>
          <p:cNvSpPr/>
          <p:nvPr/>
        </p:nvSpPr>
        <p:spPr>
          <a:xfrm>
            <a:off x="9052560" y="2103120"/>
            <a:ext cx="2606040" cy="109728"/>
          </a:xfrm>
          <a:prstGeom prst="rect">
            <a:avLst/>
          </a:prstGeom>
          <a:solidFill>
            <a:srgbClr val="6B6B6B"/>
          </a:solidFill>
          <a:ln/>
        </p:spPr>
      </p:sp>
      <p:sp>
        <p:nvSpPr>
          <p:cNvPr id="19" name="Text 17"/>
          <p:cNvSpPr txBox="1"/>
          <p:nvPr/>
        </p:nvSpPr>
        <p:spPr>
          <a:xfrm>
            <a:off x="9217152" y="2423160"/>
            <a:ext cx="2276856" cy="457200"/>
          </a:xfrm>
          <a:prstGeom prst="rect">
            <a:avLst/>
          </a:prstGeom>
          <a:noFill/>
          <a:ln/>
        </p:spPr>
        <p:txBody>
          <a:bodyPr wrap="square" lIns="0" tIns="0" rIns="0" bIns="0" rtlCol="0" anchor="ctr"/>
          <a:lstStyle/>
          <a:p>
            <a:pPr indent="0" marL="0">
              <a:buNone/>
            </a:pPr>
            <a:r>
              <a:rPr lang="en-US" sz="1600" b="1" dirty="0">
                <a:solidFill>
                  <a:srgbClr val="1A1A1A"/>
                </a:solidFill>
                <a:latin typeface="Bookman Old Style" pitchFamily="34" charset="0"/>
                <a:ea typeface="Bookman Old Style" pitchFamily="34" charset="-122"/>
                <a:cs typeface="Bookman Old Style" pitchFamily="34" charset="-120"/>
              </a:rPr>
              <a:t>Acción</a:t>
            </a:r>
            <a:endParaRPr lang="en-US" sz="1600" dirty="0"/>
          </a:p>
        </p:txBody>
      </p:sp>
      <p:sp>
        <p:nvSpPr>
          <p:cNvPr id="20" name="Text 18"/>
          <p:cNvSpPr txBox="1"/>
          <p:nvPr/>
        </p:nvSpPr>
        <p:spPr>
          <a:xfrm>
            <a:off x="9217152" y="2971800"/>
            <a:ext cx="2276856" cy="246888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Combate en tiempo real con armas de juguete recolectables, golpe crítico a la cabeza y enfrentamientos directos en la fase final.</a:t>
            </a:r>
            <a:endParaRPr lang="en-US" sz="1100" dirty="0"/>
          </a:p>
        </p:txBody>
      </p:sp>
      <p:sp>
        <p:nvSpPr>
          <p:cNvPr id="21" name="Text 19"/>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3 · Género</a:t>
            </a:r>
            <a:endParaRPr lang="en-US" sz="1000" dirty="0"/>
          </a:p>
        </p:txBody>
      </p:sp>
      <p:sp>
        <p:nvSpPr>
          <p:cNvPr id="22" name="Text 20"/>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2</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Público objetivo</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560320"/>
                <a:gridCol w="9079992"/>
              </a:tblGrid>
              <a:tr h="64008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Criterio</a:t>
                      </a:r>
                      <a:endParaRPr lang="en-US" sz="12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Definición</a:t>
                      </a:r>
                      <a:endParaRPr lang="en-US" sz="12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64008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Edad</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Mayores de 13 años. La violencia es caricaturesca (peluches de juguete, movimiento ragdoll, sin sangre) y se lee como humor negro, no como violencia gráfica.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4008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Plataforma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PC con teclado y mouse, conexión a internet para el modo en línea.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64008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Experiencia previa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Jugadores casuales e intermedios que ya conocen la cámara en tercera persona y los controles básicos de PC. No se requiere habilidad competitiva avanzada.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4008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Intereses</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Juegos de engaño social y de esconderse (Among Us, escondidas), humor y física exagerada (Fall Guys), duelos cortos con un amigo.</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64008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Tipo de experiencia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Partidas cortas de 10 a 15 minutos, de tensión y paranoia constante (¿es un NPC o es mi rival?) que estalla en momentos de acción. Pensado para dos personas, sin reunir un grupo grande.</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4 · Público objetivo</a:t>
            </a:r>
            <a:endParaRPr lang="en-US" sz="1000" dirty="0"/>
          </a:p>
        </p:txBody>
      </p:sp>
      <p:sp>
        <p:nvSpPr>
          <p:cNvPr id="6" name="Text 3"/>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3</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Historia</a:t>
            </a:r>
            <a:endParaRPr lang="en-US" sz="3200" dirty="0"/>
          </a:p>
        </p:txBody>
      </p:sp>
      <p:sp>
        <p:nvSpPr>
          <p:cNvPr id="4" name="Text 2"/>
          <p:cNvSpPr txBox="1"/>
          <p:nvPr/>
        </p:nvSpPr>
        <p:spPr>
          <a:xfrm>
            <a:off x="548640" y="1371600"/>
            <a:ext cx="6949440" cy="1188720"/>
          </a:xfrm>
          <a:prstGeom prst="rect">
            <a:avLst/>
          </a:prstGeom>
          <a:noFill/>
          <a:ln/>
        </p:spPr>
        <p:txBody>
          <a:bodyPr wrap="square" lIns="0" tIns="0" rIns="0" bIns="0" rtlCol="0" anchor="ctr"/>
          <a:lstStyle/>
          <a:p>
            <a:pPr indent="0" marL="0">
              <a:spcAft>
                <a:spcPts val="800"/>
              </a:spcAft>
              <a:buNone/>
            </a:pPr>
            <a:r>
              <a:rPr lang="en-US" sz="1250" dirty="0">
                <a:solidFill>
                  <a:srgbClr val="1A1A1A"/>
                </a:solidFill>
                <a:latin typeface="Calibri" pitchFamily="34" charset="0"/>
                <a:ea typeface="Calibri" pitchFamily="34" charset="-122"/>
                <a:cs typeface="Calibri" pitchFamily="34" charset="-120"/>
              </a:rPr>
              <a:t>Una pequeña juguetería está a punto de cerrar porque el negocio se transformará en una tienda de videojuegos. En el último pasillo quedan los últimos osos de peluche sin vender. De noche, cuando la tienda cierra, los peluches cobran consciencia y descubren lo que les espera: serán incinerados si no se venden antes del cierre.</a:t>
            </a:r>
            <a:endParaRPr lang="en-US" sz="1250" dirty="0"/>
          </a:p>
        </p:txBody>
      </p:sp>
      <p:sp>
        <p:nvSpPr>
          <p:cNvPr id="5" name="Text 3"/>
          <p:cNvSpPr txBox="1"/>
          <p:nvPr/>
        </p:nvSpPr>
        <p:spPr>
          <a:xfrm>
            <a:off x="548640" y="2606040"/>
            <a:ext cx="6949440" cy="11430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Comprenden que solo hay una forma de sobrevivir: ser el juguete que se compre. Sin clientes ni reglas, dos osos empiezan a competir para ser el único que permanezca en el estante — ocultando su identidad y buscando señales que delaten al rival. La noche se convierte en una cacería silenciosa.</a:t>
            </a:r>
            <a:endParaRPr lang="en-US" sz="1250" dirty="0"/>
          </a:p>
        </p:txBody>
      </p:sp>
      <p:sp>
        <p:nvSpPr>
          <p:cNvPr id="6" name="Text 4"/>
          <p:cNvSpPr txBox="1"/>
          <p:nvPr/>
        </p:nvSpPr>
        <p:spPr>
          <a:xfrm>
            <a:off x="548640" y="3886200"/>
            <a:ext cx="6949440" cy="914400"/>
          </a:xfrm>
          <a:prstGeom prst="rect">
            <a:avLst/>
          </a:prstGeom>
          <a:noFill/>
          <a:ln/>
        </p:spPr>
        <p:txBody>
          <a:bodyPr wrap="square" lIns="0" tIns="0" rIns="0" bIns="0" rtlCol="0" anchor="ctr"/>
          <a:lstStyle/>
          <a:p>
            <a:pPr indent="0" marL="0">
              <a:buNone/>
            </a:pPr>
            <a:r>
              <a:rPr lang="en-US" sz="1250" b="1" dirty="0">
                <a:solidFill>
                  <a:srgbClr val="B5342E"/>
                </a:solidFill>
                <a:latin typeface="Calibri" pitchFamily="34" charset="0"/>
                <a:ea typeface="Calibri" pitchFamily="34" charset="-122"/>
                <a:cs typeface="Calibri" pitchFamily="34" charset="-120"/>
              </a:rPr>
              <a:t>Resolución.  </a:t>
            </a:r>
            <a:pPr indent="0" marL="0">
              <a:buNone/>
            </a:pPr>
            <a:r>
              <a:rPr lang="en-US" sz="1250" dirty="0">
                <a:solidFill>
                  <a:srgbClr val="1A1A1A"/>
                </a:solidFill>
                <a:latin typeface="Calibri" pitchFamily="34" charset="0"/>
                <a:ea typeface="Calibri" pitchFamily="34" charset="-122"/>
                <a:cs typeface="Calibri" pitchFamily="34" charset="-120"/>
              </a:rPr>
              <a:t>Al terminar el temporizador, el oso con más puntos es colocado en el baúl de juguetes para ser vendido (victoria); el otro termina en la basura, desechado (derrota).</a:t>
            </a:r>
            <a:endParaRPr lang="en-US" sz="1250" dirty="0"/>
          </a:p>
        </p:txBody>
      </p:sp>
      <p:sp>
        <p:nvSpPr>
          <p:cNvPr id="7" name="Text 5"/>
          <p:cNvSpPr txBox="1"/>
          <p:nvPr/>
        </p:nvSpPr>
        <p:spPr>
          <a:xfrm>
            <a:off x="8321040" y="1371600"/>
            <a:ext cx="3291840" cy="274320"/>
          </a:xfrm>
          <a:prstGeom prst="rect">
            <a:avLst/>
          </a:prstGeom>
          <a:noFill/>
          <a:ln/>
        </p:spPr>
        <p:txBody>
          <a:bodyPr wrap="square" lIns="0" tIns="0" rIns="0" bIns="0" rtlCol="0" anchor="ctr"/>
          <a:lstStyle/>
          <a:p>
            <a:pPr indent="0" marL="0">
              <a:buNone/>
            </a:pPr>
            <a:r>
              <a:rPr lang="en-US" sz="1100" b="1" spc="150" kern="0" dirty="0">
                <a:solidFill>
                  <a:srgbClr val="B5342E"/>
                </a:solidFill>
                <a:latin typeface="Calibri" pitchFamily="34" charset="0"/>
                <a:ea typeface="Calibri" pitchFamily="34" charset="-122"/>
                <a:cs typeface="Calibri" pitchFamily="34" charset="-120"/>
              </a:rPr>
              <a:t>ARCO DE LA PARTIDA</a:t>
            </a:r>
            <a:endParaRPr lang="en-US" sz="1100" dirty="0"/>
          </a:p>
        </p:txBody>
      </p:sp>
      <p:sp>
        <p:nvSpPr>
          <p:cNvPr id="8" name="Shape 6"/>
          <p:cNvSpPr/>
          <p:nvPr/>
        </p:nvSpPr>
        <p:spPr>
          <a:xfrm>
            <a:off x="8321040" y="1828800"/>
            <a:ext cx="384048" cy="384048"/>
          </a:xfrm>
          <a:prstGeom prst="ellipse">
            <a:avLst/>
          </a:prstGeom>
          <a:solidFill>
            <a:srgbClr val="1A1A1A"/>
          </a:solidFill>
          <a:ln/>
        </p:spPr>
      </p:sp>
      <p:sp>
        <p:nvSpPr>
          <p:cNvPr id="9" name="Text 7"/>
          <p:cNvSpPr txBox="1"/>
          <p:nvPr/>
        </p:nvSpPr>
        <p:spPr>
          <a:xfrm>
            <a:off x="832104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1</a:t>
            </a:r>
            <a:endParaRPr lang="en-US" sz="1500" dirty="0"/>
          </a:p>
        </p:txBody>
      </p:sp>
      <p:sp>
        <p:nvSpPr>
          <p:cNvPr id="10" name="Text 8"/>
          <p:cNvSpPr txBox="1"/>
          <p:nvPr/>
        </p:nvSpPr>
        <p:spPr>
          <a:xfrm>
            <a:off x="8851392" y="1810512"/>
            <a:ext cx="274320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Luces apagadas</a:t>
            </a:r>
            <a:endParaRPr lang="en-US" sz="1300" dirty="0"/>
          </a:p>
        </p:txBody>
      </p:sp>
      <p:sp>
        <p:nvSpPr>
          <p:cNvPr id="11" name="Text 9"/>
          <p:cNvSpPr txBox="1"/>
          <p:nvPr/>
        </p:nvSpPr>
        <p:spPr>
          <a:xfrm>
            <a:off x="8851392" y="2103120"/>
            <a:ext cx="2743200" cy="5029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Los osos despiertan y se esconden entre los demás.</a:t>
            </a:r>
            <a:endParaRPr lang="en-US" sz="1050" dirty="0"/>
          </a:p>
        </p:txBody>
      </p:sp>
      <p:sp>
        <p:nvSpPr>
          <p:cNvPr id="12" name="Shape 10"/>
          <p:cNvSpPr/>
          <p:nvPr/>
        </p:nvSpPr>
        <p:spPr>
          <a:xfrm>
            <a:off x="8513064" y="2212848"/>
            <a:ext cx="0" cy="457200"/>
          </a:xfrm>
          <a:prstGeom prst="line">
            <a:avLst/>
          </a:prstGeom>
          <a:noFill/>
          <a:ln w="19050">
            <a:solidFill>
              <a:srgbClr val="D9D9D9"/>
            </a:solidFill>
            <a:prstDash val="dash"/>
          </a:ln>
        </p:spPr>
      </p:sp>
      <p:sp>
        <p:nvSpPr>
          <p:cNvPr id="13" name="Shape 11"/>
          <p:cNvSpPr/>
          <p:nvPr/>
        </p:nvSpPr>
        <p:spPr>
          <a:xfrm>
            <a:off x="8321040" y="3017520"/>
            <a:ext cx="384048" cy="384048"/>
          </a:xfrm>
          <a:prstGeom prst="ellipse">
            <a:avLst/>
          </a:prstGeom>
          <a:solidFill>
            <a:srgbClr val="1A1A1A"/>
          </a:solidFill>
          <a:ln/>
        </p:spPr>
      </p:sp>
      <p:sp>
        <p:nvSpPr>
          <p:cNvPr id="14" name="Text 12"/>
          <p:cNvSpPr txBox="1"/>
          <p:nvPr/>
        </p:nvSpPr>
        <p:spPr>
          <a:xfrm>
            <a:off x="8321040" y="30175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2</a:t>
            </a:r>
            <a:endParaRPr lang="en-US" sz="1500" dirty="0"/>
          </a:p>
        </p:txBody>
      </p:sp>
      <p:sp>
        <p:nvSpPr>
          <p:cNvPr id="15" name="Text 13"/>
          <p:cNvSpPr txBox="1"/>
          <p:nvPr/>
        </p:nvSpPr>
        <p:spPr>
          <a:xfrm>
            <a:off x="8851392" y="2999232"/>
            <a:ext cx="274320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Mercancía nueva</a:t>
            </a:r>
            <a:endParaRPr lang="en-US" sz="1300" dirty="0"/>
          </a:p>
        </p:txBody>
      </p:sp>
      <p:sp>
        <p:nvSpPr>
          <p:cNvPr id="16" name="Text 14"/>
          <p:cNvSpPr txBox="1"/>
          <p:nvPr/>
        </p:nvSpPr>
        <p:spPr>
          <a:xfrm>
            <a:off x="8851392" y="3291840"/>
            <a:ext cx="2743200" cy="5029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Llega un arma que puede cambiar la partida.</a:t>
            </a:r>
            <a:endParaRPr lang="en-US" sz="1050" dirty="0"/>
          </a:p>
        </p:txBody>
      </p:sp>
      <p:sp>
        <p:nvSpPr>
          <p:cNvPr id="17" name="Shape 15"/>
          <p:cNvSpPr/>
          <p:nvPr/>
        </p:nvSpPr>
        <p:spPr>
          <a:xfrm>
            <a:off x="8513064" y="3401568"/>
            <a:ext cx="0" cy="457200"/>
          </a:xfrm>
          <a:prstGeom prst="line">
            <a:avLst/>
          </a:prstGeom>
          <a:noFill/>
          <a:ln w="19050">
            <a:solidFill>
              <a:srgbClr val="D9D9D9"/>
            </a:solidFill>
            <a:prstDash val="dash"/>
          </a:ln>
        </p:spPr>
      </p:sp>
      <p:sp>
        <p:nvSpPr>
          <p:cNvPr id="18" name="Shape 16"/>
          <p:cNvSpPr/>
          <p:nvPr/>
        </p:nvSpPr>
        <p:spPr>
          <a:xfrm>
            <a:off x="8321040" y="4206240"/>
            <a:ext cx="384048" cy="384048"/>
          </a:xfrm>
          <a:prstGeom prst="ellipse">
            <a:avLst/>
          </a:prstGeom>
          <a:solidFill>
            <a:srgbClr val="1A1A1A"/>
          </a:solidFill>
          <a:ln/>
        </p:spPr>
      </p:sp>
      <p:sp>
        <p:nvSpPr>
          <p:cNvPr id="19" name="Text 17"/>
          <p:cNvSpPr txBox="1"/>
          <p:nvPr/>
        </p:nvSpPr>
        <p:spPr>
          <a:xfrm>
            <a:off x="8321040" y="4206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Bookman Old Style" pitchFamily="34" charset="0"/>
                <a:ea typeface="Bookman Old Style" pitchFamily="34" charset="-122"/>
                <a:cs typeface="Bookman Old Style" pitchFamily="34" charset="-120"/>
              </a:rPr>
              <a:t>3</a:t>
            </a:r>
            <a:endParaRPr lang="en-US" sz="1500" dirty="0"/>
          </a:p>
        </p:txBody>
      </p:sp>
      <p:sp>
        <p:nvSpPr>
          <p:cNvPr id="20" name="Text 18"/>
          <p:cNvSpPr txBox="1"/>
          <p:nvPr/>
        </p:nvSpPr>
        <p:spPr>
          <a:xfrm>
            <a:off x="8851392" y="4187952"/>
            <a:ext cx="2743200" cy="2743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Remate final</a:t>
            </a:r>
            <a:endParaRPr lang="en-US" sz="1300" dirty="0"/>
          </a:p>
        </p:txBody>
      </p:sp>
      <p:sp>
        <p:nvSpPr>
          <p:cNvPr id="21" name="Text 19"/>
          <p:cNvSpPr txBox="1"/>
          <p:nvPr/>
        </p:nvSpPr>
        <p:spPr>
          <a:xfrm>
            <a:off x="8851392" y="4480560"/>
            <a:ext cx="2743200" cy="5029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Los demás peluches vuelven a sus estantes; el encuentro se vuelve inevitable.</a:t>
            </a:r>
            <a:endParaRPr lang="en-US" sz="1050" dirty="0"/>
          </a:p>
        </p:txBody>
      </p:sp>
      <p:sp>
        <p:nvSpPr>
          <p:cNvPr id="22" name="Text 20"/>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5 · Historia</a:t>
            </a:r>
            <a:endParaRPr lang="en-US" sz="1000" dirty="0"/>
          </a:p>
        </p:txBody>
      </p:sp>
      <p:sp>
        <p:nvSpPr>
          <p:cNvPr id="23" name="Text 21"/>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4</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Personajes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377440"/>
                <a:gridCol w="4480560"/>
                <a:gridCol w="4233672"/>
              </a:tblGrid>
              <a:tr h="10972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Personaje / entidad</a:t>
                      </a:r>
                      <a:endParaRPr lang="en-US" sz="11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Función</a:t>
                      </a:r>
                      <a:endParaRPr lang="en-US" sz="11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Interacciones principales</a:t>
                      </a:r>
                      <a:endParaRPr lang="en-US" sz="11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109728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Oso jugador (controlable)</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Protagonista. Quiere ser el único sobreviviente. Único tipo de personaje que corre, brinca, recoge objetos y ataca.</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Camina entre NPCs para pasar desapercibido, recoge armas y objetos, ataca al rival y reaparece (respawn) al ser eliminado.</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09728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Oso rival (el otro jugador)</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Antagonista simétrico: tiene exactamente las mismas capacidades. Cada jugador es protagonista desde su propia pantalla.</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Ambos se buscan, se engañan y se atacan. Cada eliminación da puntos al atacante.</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109728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Osos NPC</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Camuflaje. Peluches casi idénticos a los jugadores (solo cambia el rostro) con IA simple: patrullar, detenerse, quedarse quietos.</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Sirven para mezclarse entre ellos. Un golpe de cualquier arma elimina a un NPC y el atacante pierde 50 puntos. No atacan ni persiguen.</a:t>
                      </a:r>
                      <a:endParaRPr lang="en-US" sz="11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6 · Personajes</a:t>
            </a:r>
            <a:endParaRPr lang="en-US" sz="1000" dirty="0"/>
          </a:p>
        </p:txBody>
      </p:sp>
      <p:sp>
        <p:nvSpPr>
          <p:cNvPr id="6" name="Text 3"/>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4</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Atributos del oso</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2194560"/>
                <a:gridCol w="6702552"/>
              </a:tblGrid>
              <a:tr h="5029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Atributo</a:t>
                      </a:r>
                      <a:endParaRPr lang="en-US" sz="12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Valor base</a:t>
                      </a:r>
                      <a:endParaRPr lang="en-US" sz="12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Qué representa en el juego</a:t>
                      </a:r>
                      <a:endParaRPr lang="en-US" sz="12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50292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Vida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Al llegar a 0 el oso es eliminado y reaparece con vida completa. Nunca se regenera sola: solo se recupera con el rollo de hilo.</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Relleno</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Representación visual de la vida: el oso pierde relleno conforme recibe daño.</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50292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Velocidad</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Caminar / correr</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Caminar es la velocidad de los NPCs. Correr es más rápido, pero delata al jugador.</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Armadura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Vida extra que da el casco: +25, hasta 125. Se pierde al ser eliminado.</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502920">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Fuerza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Daño base del arma</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Daño de los ataques cuerpo a cuerpo.</a:t>
                      </a:r>
                      <a:endParaRPr lang="en-US" sz="12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572000"/>
            <a:ext cx="11094415" cy="1463040"/>
          </a:xfrm>
          <a:prstGeom prst="rect">
            <a:avLst/>
          </a:prstGeom>
          <a:solidFill>
            <a:srgbClr val="F2F2F0"/>
          </a:solidFill>
          <a:ln/>
        </p:spPr>
      </p:sp>
      <p:sp>
        <p:nvSpPr>
          <p:cNvPr id="6" name="Text 3"/>
          <p:cNvSpPr txBox="1"/>
          <p:nvPr/>
        </p:nvSpPr>
        <p:spPr>
          <a:xfrm>
            <a:off x="777240" y="4736592"/>
            <a:ext cx="10637215" cy="548640"/>
          </a:xfrm>
          <a:prstGeom prst="rect">
            <a:avLst/>
          </a:prstGeom>
          <a:noFill/>
          <a:ln/>
        </p:spPr>
        <p:txBody>
          <a:bodyPr wrap="square" lIns="0" tIns="0" rIns="0" bIns="0" rtlCol="0" anchor="ctr"/>
          <a:lstStyle/>
          <a:p>
            <a:pPr indent="0" marL="0">
              <a:buNone/>
            </a:pPr>
            <a:r>
              <a:rPr lang="en-US" sz="1200" b="1" dirty="0">
                <a:solidFill>
                  <a:srgbClr val="B5342E"/>
                </a:solidFill>
                <a:latin typeface="Calibri" pitchFamily="34" charset="0"/>
                <a:ea typeface="Calibri" pitchFamily="34" charset="-122"/>
                <a:cs typeface="Calibri" pitchFamily="34" charset="-120"/>
              </a:rPr>
              <a:t>Señales que delatan al jugador.  </a:t>
            </a:r>
            <a:pPr indent="0" marL="0">
              <a:buNone/>
            </a:pPr>
            <a:r>
              <a:rPr lang="en-US" sz="1200" dirty="0">
                <a:solidFill>
                  <a:srgbClr val="1A1A1A"/>
                </a:solidFill>
                <a:latin typeface="Calibri" pitchFamily="34" charset="0"/>
                <a:ea typeface="Calibri" pitchFamily="34" charset="-122"/>
                <a:cs typeface="Calibri" pitchFamily="34" charset="-120"/>
              </a:rPr>
              <a:t>Solo tres: correr, brincar y portar un arma. Mientras camine sin arma, se confunde con un NPC; solo el rostro enojado, visible de cerca, lo diferencia.</a:t>
            </a:r>
            <a:endParaRPr lang="en-US" sz="1200" dirty="0"/>
          </a:p>
        </p:txBody>
      </p:sp>
      <p:sp>
        <p:nvSpPr>
          <p:cNvPr id="7" name="Text 4"/>
          <p:cNvSpPr txBox="1"/>
          <p:nvPr/>
        </p:nvSpPr>
        <p:spPr>
          <a:xfrm>
            <a:off x="777240" y="5257800"/>
            <a:ext cx="10637215" cy="685800"/>
          </a:xfrm>
          <a:prstGeom prst="rect">
            <a:avLst/>
          </a:prstGeom>
          <a:noFill/>
          <a:ln/>
        </p:spPr>
        <p:txBody>
          <a:bodyPr wrap="square" lIns="0" tIns="0" rIns="0" bIns="0" rtlCol="0" anchor="ctr"/>
          <a:lstStyle/>
          <a:p>
            <a:pPr indent="0" marL="0">
              <a:buNone/>
            </a:pPr>
            <a:r>
              <a:rPr lang="en-US" sz="1200" b="1" dirty="0">
                <a:solidFill>
                  <a:srgbClr val="3F4A3A"/>
                </a:solidFill>
                <a:latin typeface="Calibri" pitchFamily="34" charset="0"/>
                <a:ea typeface="Calibri" pitchFamily="34" charset="-122"/>
                <a:cs typeface="Calibri" pitchFamily="34" charset="-120"/>
              </a:rPr>
              <a:t>Implementación en Unity.  </a:t>
            </a:r>
            <a:pPr indent="0" marL="0">
              <a:buNone/>
            </a:pPr>
            <a:r>
              <a:rPr lang="en-US" sz="1200" dirty="0">
                <a:solidFill>
                  <a:srgbClr val="1A1A1A"/>
                </a:solidFill>
                <a:latin typeface="Calibri" pitchFamily="34" charset="0"/>
                <a:ea typeface="Calibri" pitchFamily="34" charset="-122"/>
                <a:cs typeface="Calibri" pitchFamily="34" charset="-120"/>
              </a:rPr>
              <a:t>Los NPCs se mueven con NavMesh y se simulan localmente (no se sincronizan por red); solo los dos jugadores humanos se sincronizan con Photon PUN2 (posición, animación, armas y golpes).</a:t>
            </a:r>
            <a:endParaRPr lang="en-US" sz="1200" dirty="0"/>
          </a:p>
        </p:txBody>
      </p:sp>
      <p:sp>
        <p:nvSpPr>
          <p:cNvPr id="8" name="Text 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6 · Atributos del oso</a:t>
            </a:r>
            <a:endParaRPr lang="en-US" sz="1000" dirty="0"/>
          </a:p>
        </p:txBody>
      </p:sp>
      <p:sp>
        <p:nvSpPr>
          <p:cNvPr id="9" name="Text 6"/>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5</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Niveles</a:t>
            </a:r>
            <a:endParaRPr lang="en-US" sz="3200" dirty="0"/>
          </a:p>
        </p:txBody>
      </p:sp>
      <p:sp>
        <p:nvSpPr>
          <p:cNvPr id="4" name="Text 2"/>
          <p:cNvSpPr txBox="1"/>
          <p:nvPr/>
        </p:nvSpPr>
        <p:spPr>
          <a:xfrm>
            <a:off x="548640" y="1371600"/>
            <a:ext cx="11094415" cy="7772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Un solo escenario: </a:t>
            </a:r>
            <a:pPr indent="0" marL="0">
              <a:buNone/>
            </a:pPr>
            <a:r>
              <a:rPr lang="en-US" sz="1300" b="1" dirty="0">
                <a:solidFill>
                  <a:srgbClr val="1A1A1A"/>
                </a:solidFill>
                <a:latin typeface="Calibri" pitchFamily="34" charset="0"/>
                <a:ea typeface="Calibri" pitchFamily="34" charset="-122"/>
                <a:cs typeface="Calibri" pitchFamily="34" charset="-120"/>
              </a:rPr>
              <a:t>La Juguetería</a:t>
            </a:r>
            <a:pPr indent="0" marL="0">
              <a:buNone/>
            </a:pPr>
            <a:r>
              <a:rPr lang="en-US" sz="1300" dirty="0">
                <a:solidFill>
                  <a:srgbClr val="1A1A1A"/>
                </a:solidFill>
                <a:latin typeface="Calibri" pitchFamily="34" charset="0"/>
                <a:ea typeface="Calibri" pitchFamily="34" charset="-122"/>
                <a:cs typeface="Calibri" pitchFamily="34" charset="-120"/>
              </a:rPr>
              <a:t> — el último pasillo de la tienda, dividido en tres pasillos separados por estanterías que funcionan como muros. Juguetes inanimados bloquean la línea de vista; ambientación de tienda departamental.</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4415" cy="914400"/>
        </p:xfrm>
        <a:graphic>
          <a:graphicData uri="http://schemas.openxmlformats.org/drawingml/2006/table">
            <a:tbl>
              <a:tblPr/>
              <a:tblGrid>
                <a:gridCol w="2011680"/>
                <a:gridCol w="2651760"/>
                <a:gridCol w="3502152"/>
                <a:gridCol w="2926080"/>
              </a:tblGrid>
              <a:tr h="11887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Fase</a:t>
                      </a:r>
                      <a:endParaRPr lang="en-US" sz="10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Propósito</a:t>
                      </a:r>
                      <a:endParaRPr lang="en-US" sz="10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Obstáculos o retos</a:t>
                      </a:r>
                      <a:endParaRPr lang="en-US" sz="10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Cómo se avanza</a:t>
                      </a:r>
                      <a:endParaRPr lang="en-US" sz="10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11887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 Luces apagadas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Ubicarse, conseguir la aguja y empezar a identificar al rival.</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Los NPCs son casi idénticos; correr, brincar o portar arma delata; atacar a un NPC resta 50 puntos.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Pasa automáticamente al cumplirse el primer tercio del tiempo.</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1887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2. Mercancía nueva</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Abrir una oportunidad para dar la vuelta al marcador.</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Se anuncia que la pistola de dardos apareció; ir por ella expone al jugador y el rival puede emboscarlo.</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Pasa automáticamente al cumplirse el segundo tercio.</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118872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 Remate final</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Forzar el enfrentamiento directo antes de que termine la noche.</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La mitad de los NPCs regresa a los estantes y se queda inmóvil: menos camuflaje, encuentros más frecuentes.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Termina al agotarse el tiempo: gana el oso con más puntos.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7 · Niveles</a:t>
            </a:r>
            <a:endParaRPr lang="en-US" sz="1000" dirty="0"/>
          </a:p>
        </p:txBody>
      </p:sp>
      <p:sp>
        <p:nvSpPr>
          <p:cNvPr id="7" name="Text 4"/>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6</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Sistema de puntos y condición de victoria</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583680" cy="914400"/>
        </p:xfrm>
        <a:graphic>
          <a:graphicData uri="http://schemas.openxmlformats.org/drawingml/2006/table">
            <a:tbl>
              <a:tblPr/>
              <a:tblGrid>
                <a:gridCol w="4937760"/>
                <a:gridCol w="1645920"/>
              </a:tblGrid>
              <a:tr h="53035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Evento</a:t>
                      </a:r>
                      <a:endParaRPr lang="en-US" sz="13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Puntos</a:t>
                      </a:r>
                      <a:endParaRPr lang="en-US" sz="13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53035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Eliminar al rival (kill normal)</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3035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Eliminar al rival sin ser visto (kill con sigilo)</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+350</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53035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Eliminar al rival con la pistola de dardos</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+400 (puntos dobles)</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30352">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Eliminar a un NPC por error</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bl>
          </a:graphicData>
        </a:graphic>
      </p:graphicFrame>
      <p:sp>
        <p:nvSpPr>
          <p:cNvPr id="5" name="Shape 2"/>
          <p:cNvSpPr/>
          <p:nvPr/>
        </p:nvSpPr>
        <p:spPr>
          <a:xfrm>
            <a:off x="7406640" y="1417320"/>
            <a:ext cx="4233672" cy="3200400"/>
          </a:xfrm>
          <a:prstGeom prst="rect">
            <a:avLst/>
          </a:prstGeom>
          <a:solidFill>
            <a:srgbClr val="1A1A1A"/>
          </a:solidFill>
          <a:ln/>
        </p:spPr>
      </p:sp>
      <p:sp>
        <p:nvSpPr>
          <p:cNvPr id="6" name="Text 3"/>
          <p:cNvSpPr txBox="1"/>
          <p:nvPr/>
        </p:nvSpPr>
        <p:spPr>
          <a:xfrm>
            <a:off x="7680960" y="1691640"/>
            <a:ext cx="3657600" cy="365760"/>
          </a:xfrm>
          <a:prstGeom prst="rect">
            <a:avLst/>
          </a:prstGeom>
          <a:noFill/>
          <a:ln/>
        </p:spPr>
        <p:txBody>
          <a:bodyPr wrap="square" lIns="0" tIns="0" rIns="0" bIns="0" rtlCol="0" anchor="ctr"/>
          <a:lstStyle/>
          <a:p>
            <a:pPr indent="0" marL="0">
              <a:buNone/>
            </a:pPr>
            <a:r>
              <a:rPr lang="en-US" sz="1200" b="1" spc="150" kern="0" dirty="0">
                <a:solidFill>
                  <a:srgbClr val="D9A441"/>
                </a:solidFill>
                <a:latin typeface="Calibri" pitchFamily="34" charset="0"/>
                <a:ea typeface="Calibri" pitchFamily="34" charset="-122"/>
                <a:cs typeface="Calibri" pitchFamily="34" charset="-120"/>
              </a:rPr>
              <a:t>GANA QUIEN TIENE MÁS PUNTOS</a:t>
            </a:r>
            <a:endParaRPr lang="en-US" sz="1200" dirty="0"/>
          </a:p>
        </p:txBody>
      </p:sp>
      <p:sp>
        <p:nvSpPr>
          <p:cNvPr id="7" name="Text 4"/>
          <p:cNvSpPr txBox="1"/>
          <p:nvPr/>
        </p:nvSpPr>
        <p:spPr>
          <a:xfrm>
            <a:off x="7680960" y="2057400"/>
            <a:ext cx="3657600" cy="365760"/>
          </a:xfrm>
          <a:prstGeom prst="rect">
            <a:avLst/>
          </a:prstGeom>
          <a:noFill/>
          <a:ln/>
        </p:spPr>
        <p:txBody>
          <a:bodyPr wrap="square" lIns="0" tIns="0" rIns="0" bIns="0" rtlCol="0" anchor="ctr"/>
          <a:lstStyle/>
          <a:p>
            <a:pPr indent="0" marL="0">
              <a:buNone/>
            </a:pPr>
            <a:r>
              <a:rPr lang="en-US" sz="1900" b="1" dirty="0">
                <a:solidFill>
                  <a:srgbClr val="FFFFFF"/>
                </a:solidFill>
                <a:latin typeface="Bookman Old Style" pitchFamily="34" charset="0"/>
                <a:ea typeface="Bookman Old Style" pitchFamily="34" charset="-122"/>
                <a:cs typeface="Bookman Old Style" pitchFamily="34" charset="-120"/>
              </a:rPr>
              <a:t>al agotarse el temporizador</a:t>
            </a:r>
            <a:endParaRPr lang="en-US" sz="1900" dirty="0"/>
          </a:p>
        </p:txBody>
      </p:sp>
      <p:sp>
        <p:nvSpPr>
          <p:cNvPr id="8" name="Text 5"/>
          <p:cNvSpPr txBox="1"/>
          <p:nvPr/>
        </p:nvSpPr>
        <p:spPr>
          <a:xfrm>
            <a:off x="7680960" y="2606040"/>
            <a:ext cx="3657600" cy="1280160"/>
          </a:xfrm>
          <a:prstGeom prst="rect">
            <a:avLst/>
          </a:prstGeom>
          <a:noFill/>
          <a:ln/>
        </p:spPr>
        <p:txBody>
          <a:bodyPr wrap="square" lIns="0" tIns="0" rIns="0" bIns="0" rtlCol="0" anchor="ctr"/>
          <a:lstStyle/>
          <a:p>
            <a:pPr indent="0" marL="0">
              <a:buNone/>
            </a:pPr>
            <a:r>
              <a:rPr lang="en-US" sz="1100" dirty="0">
                <a:solidFill>
                  <a:srgbClr val="E8E3DA"/>
                </a:solidFill>
                <a:latin typeface="Calibri" pitchFamily="34" charset="0"/>
                <a:ea typeface="Calibri" pitchFamily="34" charset="-122"/>
                <a:cs typeface="Calibri" pitchFamily="34" charset="-120"/>
              </a:rPr>
              <a:t>El golpe directo a la cabeza elimina al instante (oneshot), aunque el rival tenga casco. Tras cualquier eliminación, el oso derrotado reaparece en un punto aleatorio con 100 de vida y la partida continúa — no es muerte súbita.</a:t>
            </a:r>
            <a:endParaRPr lang="en-US" sz="1100" dirty="0"/>
          </a:p>
        </p:txBody>
      </p:sp>
      <p:sp>
        <p:nvSpPr>
          <p:cNvPr id="9" name="Text 6"/>
          <p:cNvSpPr txBox="1"/>
          <p:nvPr/>
        </p:nvSpPr>
        <p:spPr>
          <a:xfrm>
            <a:off x="7680960" y="3977640"/>
            <a:ext cx="3657600" cy="548640"/>
          </a:xfrm>
          <a:prstGeom prst="rect">
            <a:avLst/>
          </a:prstGeom>
          <a:noFill/>
          <a:ln/>
        </p:spPr>
        <p:txBody>
          <a:bodyPr wrap="square" lIns="0" tIns="0" rIns="0" bIns="0" rtlCol="0" anchor="ctr"/>
          <a:lstStyle/>
          <a:p>
            <a:pPr indent="0" marL="0">
              <a:buNone/>
            </a:pPr>
            <a:r>
              <a:rPr lang="en-US" sz="1100" i="1" dirty="0">
                <a:solidFill>
                  <a:srgbClr val="D9A441"/>
                </a:solidFill>
                <a:latin typeface="Calibri" pitchFamily="34" charset="0"/>
                <a:ea typeface="Calibri" pitchFamily="34" charset="-122"/>
                <a:cs typeface="Calibri" pitchFamily="34" charset="-120"/>
              </a:rPr>
              <a:t>Al terminar, el resultado y los puntos se envían a la PWA de estadísticas.</a:t>
            </a:r>
            <a:endParaRPr lang="en-US" sz="1100" dirty="0"/>
          </a:p>
        </p:txBody>
      </p:sp>
      <p:sp>
        <p:nvSpPr>
          <p:cNvPr id="10" name="Text 7"/>
          <p:cNvSpPr txBox="1"/>
          <p:nvPr/>
        </p:nvSpPr>
        <p:spPr>
          <a:xfrm>
            <a:off x="548640" y="4846320"/>
            <a:ext cx="6583680" cy="365760"/>
          </a:xfrm>
          <a:prstGeom prst="rect">
            <a:avLst/>
          </a:prstGeom>
          <a:noFill/>
          <a:ln/>
        </p:spPr>
        <p:txBody>
          <a:bodyPr wrap="square" lIns="0" tIns="0" rIns="0" bIns="0" rtlCol="0" anchor="ctr"/>
          <a:lstStyle/>
          <a:p>
            <a:pPr indent="0" marL="0">
              <a:buNone/>
            </a:pPr>
            <a:r>
              <a:rPr lang="en-US" sz="1150" i="1" dirty="0">
                <a:solidFill>
                  <a:srgbClr val="6B6B6B"/>
                </a:solidFill>
                <a:latin typeface="Calibri" pitchFamily="34" charset="0"/>
                <a:ea typeface="Calibri" pitchFamily="34" charset="-122"/>
                <a:cs typeface="Calibri" pitchFamily="34" charset="-120"/>
              </a:rPr>
              <a:t>Fuera del MVP (Deseable): la oficina de la tienda como segundo nivel.</a:t>
            </a:r>
            <a:endParaRPr lang="en-US" sz="1150" dirty="0"/>
          </a:p>
        </p:txBody>
      </p:sp>
      <p:sp>
        <p:nvSpPr>
          <p:cNvPr id="11" name="Text 8"/>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8 · Sistema de puntos</a:t>
            </a:r>
            <a:endParaRPr lang="en-US" sz="1000" dirty="0"/>
          </a:p>
        </p:txBody>
      </p:sp>
      <p:sp>
        <p:nvSpPr>
          <p:cNvPr id="12" name="Text 9"/>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7 · ACTUALIZADO 4-OCT</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Armas del MVP</a:t>
            </a:r>
            <a:endParaRPr lang="en-US" sz="3200" dirty="0"/>
          </a:p>
        </p:txBody>
      </p:sp>
      <p:sp>
        <p:nvSpPr>
          <p:cNvPr id="4" name="Text 2"/>
          <p:cNvSpPr txBox="1"/>
          <p:nvPr/>
        </p:nvSpPr>
        <p:spPr>
          <a:xfrm>
            <a:off x="548640" y="1371600"/>
            <a:ext cx="11094415" cy="45720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Portar un arma delata al jugador</a:t>
            </a:r>
            <a:pPr indent="0" marL="0">
              <a:buNone/>
            </a:pPr>
            <a:r>
              <a:rPr lang="en-US" sz="1250" dirty="0">
                <a:solidFill>
                  <a:srgbClr val="1A1A1A"/>
                </a:solidFill>
                <a:latin typeface="Calibri" pitchFamily="34" charset="0"/>
                <a:ea typeface="Calibri" pitchFamily="34" charset="-122"/>
                <a:cs typeface="Calibri" pitchFamily="34" charset="-120"/>
              </a:rPr>
              <a:t>, porque los NPCs nunca llevan armas. Valores calculados sobre vida base 100 (125 con casco).</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651760"/>
                <a:gridCol w="2468880"/>
                <a:gridCol w="1828800"/>
                <a:gridCol w="4142232"/>
              </a:tblGrid>
              <a:tr h="10058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Arma</a:t>
                      </a:r>
                      <a:endParaRPr lang="en-US" sz="11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Daño</a:t>
                      </a:r>
                      <a:endParaRPr lang="en-US" sz="11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Golpes para eliminar</a:t>
                      </a:r>
                      <a:endParaRPr lang="en-US" sz="11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Comportamiento</a:t>
                      </a:r>
                      <a:endParaRPr lang="en-US" sz="11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10058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Aguja de coser</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25 por golpe · cabeza: oneshot</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4 (5 con casco)</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Cuerpo a cuerpo, alcance corto, sin munición, un golpe cada 0.6 s. Permite la kill con sigilo (+350).</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00584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Pistola de dardos (estilo Nerf)</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50 por dardo · cabeza: oneshot</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2 (3 con casco)</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 distancia, 6 dardos en total, sin recarga. Aparece una sola vez, anunciada, al iniciar la fase 2. Cada eliminación vale +400 (puntos dobles).</a:t>
                      </a:r>
                      <a:endParaRPr lang="en-US" sz="11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bl>
          </a:graphicData>
        </a:graphic>
      </p:graphicFrame>
      <p:sp>
        <p:nvSpPr>
          <p:cNvPr id="6" name="Shape 3"/>
          <p:cNvSpPr/>
          <p:nvPr/>
        </p:nvSpPr>
        <p:spPr>
          <a:xfrm>
            <a:off x="548640" y="4343400"/>
            <a:ext cx="11094415" cy="1005840"/>
          </a:xfrm>
          <a:prstGeom prst="rect">
            <a:avLst/>
          </a:prstGeom>
          <a:solidFill>
            <a:srgbClr val="FBEAE9"/>
          </a:solidFill>
          <a:ln w="12700">
            <a:solidFill>
              <a:srgbClr val="B5342E"/>
            </a:solidFill>
            <a:prstDash val="solid"/>
          </a:ln>
        </p:spPr>
      </p:sp>
      <p:sp>
        <p:nvSpPr>
          <p:cNvPr id="7" name="Text 4"/>
          <p:cNvSpPr txBox="1"/>
          <p:nvPr/>
        </p:nvSpPr>
        <p:spPr>
          <a:xfrm>
            <a:off x="777240" y="4507992"/>
            <a:ext cx="10637215" cy="731520"/>
          </a:xfrm>
          <a:prstGeom prst="rect">
            <a:avLst/>
          </a:prstGeom>
          <a:noFill/>
          <a:ln/>
        </p:spPr>
        <p:txBody>
          <a:bodyPr wrap="square" lIns="0" tIns="0" rIns="0" bIns="0" rtlCol="0" anchor="ctr"/>
          <a:lstStyle/>
          <a:p>
            <a:pPr indent="0" marL="0">
              <a:buNone/>
            </a:pPr>
            <a:r>
              <a:rPr lang="en-US" sz="1150" b="1" dirty="0">
                <a:solidFill>
                  <a:srgbClr val="B5342E"/>
                </a:solidFill>
                <a:latin typeface="Calibri" pitchFamily="34" charset="0"/>
                <a:ea typeface="Calibri" pitchFamily="34" charset="-122"/>
                <a:cs typeface="Calibri" pitchFamily="34" charset="-120"/>
              </a:rPr>
              <a:t>⚠ Cambio del 4-oct-2026.  </a:t>
            </a:r>
            <a:pPr indent="0" marL="0">
              <a:buNone/>
            </a:pPr>
            <a:r>
              <a:rPr lang="en-US" sz="1150" dirty="0">
                <a:solidFill>
                  <a:srgbClr val="1A1A1A"/>
                </a:solidFill>
                <a:latin typeface="Calibri" pitchFamily="34" charset="0"/>
                <a:ea typeface="Calibri" pitchFamily="34" charset="-122"/>
                <a:cs typeface="Calibri" pitchFamily="34" charset="-120"/>
              </a:rPr>
              <a:t>La pistola pasó de 35 a </a:t>
            </a:r>
            <a:pPr indent="0" marL="0">
              <a:buNone/>
            </a:pPr>
            <a:r>
              <a:rPr lang="en-US" sz="1150" b="1" dirty="0">
                <a:solidFill>
                  <a:srgbClr val="1A1A1A"/>
                </a:solidFill>
                <a:latin typeface="Calibri" pitchFamily="34" charset="0"/>
                <a:ea typeface="Calibri" pitchFamily="34" charset="-122"/>
                <a:cs typeface="Calibri" pitchFamily="34" charset="-120"/>
              </a:rPr>
              <a:t>50 de daño por dardo</a:t>
            </a:r>
            <a:pPr indent="0" marL="0">
              <a:buNone/>
            </a:pPr>
            <a:r>
              <a:rPr lang="en-US" sz="1150" dirty="0">
                <a:solidFill>
                  <a:srgbClr val="1A1A1A"/>
                </a:solidFill>
                <a:latin typeface="Calibri" pitchFamily="34" charset="0"/>
                <a:ea typeface="Calibri" pitchFamily="34" charset="-122"/>
                <a:cs typeface="Calibri" pitchFamily="34" charset="-120"/>
              </a:rPr>
              <a:t> (de 3 a 2 impactos para eliminar), a propuesta del PO: con buena puntería alcanza para eliminar al rival hasta 3 veces (+1,200 puntos), lo que permite remontar una partida perdida.</a:t>
            </a:r>
            <a:endParaRPr lang="en-US" sz="1150" dirty="0"/>
          </a:p>
        </p:txBody>
      </p:sp>
      <p:sp>
        <p:nvSpPr>
          <p:cNvPr id="8" name="Text 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9 · Armas del MVP</a:t>
            </a:r>
            <a:endParaRPr lang="en-US" sz="1000" dirty="0"/>
          </a:p>
        </p:txBody>
      </p:sp>
      <p:sp>
        <p:nvSpPr>
          <p:cNvPr id="9" name="Text 6"/>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7-8</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Armas fuera del MVP y vestimenta</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377440"/>
                <a:gridCol w="1554480"/>
                <a:gridCol w="301752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Arma (Deseable)</a:t>
                      </a:r>
                      <a:endParaRPr lang="en-US" sz="10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Daño propuesto</a:t>
                      </a:r>
                      <a:endParaRPr lang="en-US" sz="10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Comportamiento</a:t>
                      </a:r>
                      <a:endParaRPr lang="en-US" sz="10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566928">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Espada de madera</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30 por golpe</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Cuerpo a cuerpo, más alcance que la aguja, más lenta (1 golpe/s).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Lanzallamas (spray + mechero)</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10 cada 0.5 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Alcance corto, 5 s de combustible en total.</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566928">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Ratonera explosiva</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50 en área</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Trampa en el suelo que explota al pisarla.</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Trampa de ratones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15 + inmoviliza 2 s</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Trampa en el suelo que atrapa al que la pisa.</a:t>
                      </a:r>
                      <a:endParaRPr lang="en-US" sz="10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bl>
          </a:graphicData>
        </a:graphic>
      </p:graphicFrame>
      <p:sp>
        <p:nvSpPr>
          <p:cNvPr id="5" name="Text 2"/>
          <p:cNvSpPr txBox="1"/>
          <p:nvPr/>
        </p:nvSpPr>
        <p:spPr>
          <a:xfrm>
            <a:off x="548640" y="4572000"/>
            <a:ext cx="6949440" cy="365760"/>
          </a:xfrm>
          <a:prstGeom prst="rect">
            <a:avLst/>
          </a:prstGeom>
          <a:noFill/>
          <a:ln/>
        </p:spPr>
        <p:txBody>
          <a:bodyPr wrap="square" lIns="0" tIns="0" rIns="0" bIns="0" rtlCol="0" anchor="ctr"/>
          <a:lstStyle/>
          <a:p>
            <a:pPr indent="0" marL="0">
              <a:buNone/>
            </a:pPr>
            <a:r>
              <a:rPr lang="en-US" sz="1050" i="1" dirty="0">
                <a:solidFill>
                  <a:srgbClr val="6B6B6B"/>
                </a:solidFill>
                <a:latin typeface="Calibri" pitchFamily="34" charset="0"/>
                <a:ea typeface="Calibri" pitchFamily="34" charset="-122"/>
                <a:cs typeface="Calibri" pitchFamily="34" charset="-120"/>
              </a:rPr>
              <a:t>Descartados: estambre como arma, resortes y daño por desmembramiento.</a:t>
            </a:r>
            <a:endParaRPr lang="en-US" sz="1050" dirty="0"/>
          </a:p>
        </p:txBody>
      </p:sp>
      <p:sp>
        <p:nvSpPr>
          <p:cNvPr id="6" name="Shape 3"/>
          <p:cNvSpPr/>
          <p:nvPr/>
        </p:nvSpPr>
        <p:spPr>
          <a:xfrm>
            <a:off x="7589520" y="1371600"/>
            <a:ext cx="4050792" cy="3931920"/>
          </a:xfrm>
          <a:prstGeom prst="rect">
            <a:avLst/>
          </a:prstGeom>
          <a:solidFill>
            <a:srgbClr val="F2F2F0"/>
          </a:solidFill>
          <a:ln/>
        </p:spPr>
      </p:sp>
      <p:sp>
        <p:nvSpPr>
          <p:cNvPr id="7" name="Text 4"/>
          <p:cNvSpPr txBox="1"/>
          <p:nvPr/>
        </p:nvSpPr>
        <p:spPr>
          <a:xfrm>
            <a:off x="7818120" y="1554480"/>
            <a:ext cx="3566160" cy="274320"/>
          </a:xfrm>
          <a:prstGeom prst="rect">
            <a:avLst/>
          </a:prstGeom>
          <a:noFill/>
          <a:ln/>
        </p:spPr>
        <p:txBody>
          <a:bodyPr wrap="square" lIns="0" tIns="0" rIns="0" bIns="0" rtlCol="0" anchor="ctr"/>
          <a:lstStyle/>
          <a:p>
            <a:pPr indent="0" marL="0">
              <a:buNone/>
            </a:pPr>
            <a:r>
              <a:rPr lang="en-US" sz="1100" b="1" spc="150" kern="0" dirty="0">
                <a:solidFill>
                  <a:srgbClr val="B5342E"/>
                </a:solidFill>
                <a:latin typeface="Calibri" pitchFamily="34" charset="0"/>
                <a:ea typeface="Calibri" pitchFamily="34" charset="-122"/>
                <a:cs typeface="Calibri" pitchFamily="34" charset="-120"/>
              </a:rPr>
              <a:t>VESTIMENTA</a:t>
            </a:r>
            <a:endParaRPr lang="en-US" sz="1100" dirty="0"/>
          </a:p>
        </p:txBody>
      </p:sp>
      <p:sp>
        <p:nvSpPr>
          <p:cNvPr id="8" name="Text 5"/>
          <p:cNvSpPr txBox="1"/>
          <p:nvPr/>
        </p:nvSpPr>
        <p:spPr>
          <a:xfrm>
            <a:off x="7818120" y="1920240"/>
            <a:ext cx="3566160" cy="3200400"/>
          </a:xfrm>
          <a:prstGeom prst="rect">
            <a:avLst/>
          </a:prstGeom>
          <a:noFill/>
          <a:ln/>
        </p:spPr>
        <p:txBody>
          <a:bodyPr wrap="square" lIns="0" tIns="0" rIns="0" bIns="0" rtlCol="0" anchor="ctr"/>
          <a:lstStyle/>
          <a:p>
            <a:pPr indent="0" marL="0">
              <a:buNone/>
            </a:pPr>
            <a:r>
              <a:rPr lang="en-US" sz="1150" b="1" dirty="0">
                <a:solidFill>
                  <a:srgbClr val="1A1A1A"/>
                </a:solidFill>
                <a:latin typeface="Calibri" pitchFamily="34" charset="0"/>
                <a:ea typeface="Calibri" pitchFamily="34" charset="-122"/>
                <a:cs typeface="Calibri" pitchFamily="34" charset="-120"/>
              </a:rPr>
              <a:t>No aplica como mecánica. </a:t>
            </a:r>
            <a:endParaRPr lang="en-US" sz="1150" dirty="0"/>
          </a:p>
          <a:p>
            <a:pPr indent="0" marL="0">
              <a:spcBef>
                <a:spcPts val="800"/>
              </a:spcBef>
              <a:buNone/>
            </a:pPr>
            <a:r>
              <a:rPr lang="en-US" sz="1150" dirty="0">
                <a:solidFill>
                  <a:srgbClr val="1A1A1A"/>
                </a:solidFill>
                <a:latin typeface="Calibri" pitchFamily="34" charset="0"/>
                <a:ea typeface="Calibri" pitchFamily="34" charset="-122"/>
                <a:cs typeface="Calibri" pitchFamily="34" charset="-120"/>
              </a:rPr>
              <a:t>Ninguna prenda cambia la apariencia del oso durante la partida; los boosts tampoco son visibles.</a:t>
            </a:r>
            <a:endParaRPr lang="en-US" sz="1150" dirty="0"/>
          </a:p>
          <a:p>
            <a:pPr indent="0" marL="0">
              <a:spcBef>
                <a:spcPts val="800"/>
              </a:spcBef>
              <a:buNone/>
            </a:pPr>
            <a:r>
              <a:rPr lang="en-US" sz="1150" dirty="0">
                <a:solidFill>
                  <a:srgbClr val="1A1A1A"/>
                </a:solidFill>
                <a:latin typeface="Calibri" pitchFamily="34" charset="0"/>
                <a:ea typeface="Calibri" pitchFamily="34" charset="-122"/>
                <a:cs typeface="Calibri" pitchFamily="34" charset="-120"/>
              </a:rPr>
              <a:t>Todos los osos comparten el mismo modelo low poly con marcas y accesorios parodia (no reales): es puramente estético.</a:t>
            </a:r>
            <a:endParaRPr lang="en-US" sz="1150" dirty="0"/>
          </a:p>
          <a:p>
            <a:pPr indent="0" marL="0">
              <a:spcBef>
                <a:spcPts val="800"/>
              </a:spcBef>
              <a:buNone/>
            </a:pPr>
            <a:r>
              <a:rPr lang="en-US" sz="1150" b="1" dirty="0">
                <a:solidFill>
                  <a:srgbClr val="1A1A1A"/>
                </a:solidFill>
                <a:latin typeface="Calibri" pitchFamily="34" charset="0"/>
                <a:ea typeface="Calibri" pitchFamily="34" charset="-122"/>
                <a:cs typeface="Calibri" pitchFamily="34" charset="-120"/>
              </a:rPr>
              <a:t>Rostro de los osos jugadores: </a:t>
            </a:r>
            <a:pPr indent="0" marL="0">
              <a:buNone/>
            </a:pPr>
            <a:r>
              <a:rPr lang="en-US" sz="1150" dirty="0">
                <a:solidFill>
                  <a:srgbClr val="1A1A1A"/>
                </a:solidFill>
                <a:latin typeface="Calibri" pitchFamily="34" charset="0"/>
                <a:ea typeface="Calibri" pitchFamily="34" charset="-122"/>
                <a:cs typeface="Calibri" pitchFamily="34" charset="-120"/>
              </a:rPr>
              <a:t>única diferencia visual con los NPCs — cejas fruncidas y gesto de enojo, sutil, solo se nota de cerca.</a:t>
            </a:r>
            <a:endParaRPr lang="en-US" sz="1150" dirty="0"/>
          </a:p>
        </p:txBody>
      </p:sp>
      <p:sp>
        <p:nvSpPr>
          <p:cNvPr id="9" name="Text 6"/>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10 · Armas deseables y vestimenta</a:t>
            </a:r>
            <a:endParaRPr lang="en-US" sz="1000" dirty="0"/>
          </a:p>
        </p:txBody>
      </p:sp>
      <p:sp>
        <p:nvSpPr>
          <p:cNvPr id="10" name="Text 7"/>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U1E4 · 8</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Objetos especiales</a:t>
            </a:r>
            <a:endParaRPr lang="en-US" sz="3200" dirty="0"/>
          </a:p>
        </p:txBody>
      </p:sp>
      <p:sp>
        <p:nvSpPr>
          <p:cNvPr id="4" name="Text 2"/>
          <p:cNvSpPr txBox="1"/>
          <p:nvPr/>
        </p:nvSpPr>
        <p:spPr>
          <a:xfrm>
            <a:off x="548640" y="1325880"/>
            <a:ext cx="11094415" cy="365760"/>
          </a:xfrm>
          <a:prstGeom prst="rect">
            <a:avLst/>
          </a:prstGeom>
          <a:noFill/>
          <a:ln/>
        </p:spPr>
        <p:txBody>
          <a:bodyPr wrap="square" lIns="0" tIns="0" rIns="0" bIns="0" rtlCol="0" anchor="ctr"/>
          <a:lstStyle/>
          <a:p>
            <a:pPr indent="0" marL="0">
              <a:buNone/>
            </a:pPr>
            <a:r>
              <a:rPr lang="en-US" sz="1250" dirty="0">
                <a:solidFill>
                  <a:srgbClr val="6B6B6B"/>
                </a:solidFill>
                <a:latin typeface="Calibri" pitchFamily="34" charset="0"/>
                <a:ea typeface="Calibri" pitchFamily="34" charset="-122"/>
                <a:cs typeface="Calibri" pitchFamily="34" charset="-120"/>
              </a:rPr>
              <a:t>Ningún objeto cambia la apariencia del oso. Sus efectos solo se ven en el HUD del jugador que los recoge.</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3017520"/>
                <a:gridCol w="2103120"/>
                <a:gridCol w="4782312"/>
                <a:gridCol w="1188720"/>
              </a:tblGrid>
              <a:tr h="4754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Objeto</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Tipo</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Función y efecto</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Prioridad</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Rollo de hilo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Consumible de curación</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Recupera 25 de vida, sin pasar del máximo. Única forma de curarse.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Casco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Boost invisible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Vida extra: +25, hasta 125. Dura hasta que el oso es eliminado.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Pistola de dardos (aparición anunciada)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Objeto de evento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Marca el inicio de la fase 2 y da puntos dobles.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Juguetes del pasillo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Cobertura del mapa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Bloquean la línea de vista. No se recogen.</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Esencial</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Cajas de cartón y botes de basura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Escondites interactivos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El oso se mete dentro y queda fuera de vista hasta que sale.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Deseable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Caja de galletas (costurero)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Consumible de curación</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Recupera 50 de vida, sin pasar del máximo.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Deseable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Bandana roja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Boost invisible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+25 % de daño cuerpo a cuerpo hasta ser eliminado.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Deseable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75488">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Gorro de hélice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Boost invisible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+20 % de velocidad hasta ser eliminado.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Deseable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bl>
          </a:graphicData>
        </a:graphic>
      </p:graphicFrame>
      <p:sp>
        <p:nvSpPr>
          <p:cNvPr id="6" name="Text 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11 · Objetos especiales</a:t>
            </a:r>
            <a:endParaRPr lang="en-US" sz="1000" dirty="0"/>
          </a:p>
        </p:txBody>
      </p:sp>
      <p:sp>
        <p:nvSpPr>
          <p:cNvPr id="7" name="Text 4"/>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ALCANCE DEL PROYECTO</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Esencial — MVP comprometido (1/2)</a:t>
            </a:r>
            <a:endParaRPr lang="en-US" sz="3200" dirty="0"/>
          </a:p>
        </p:txBody>
      </p:sp>
      <p:sp>
        <p:nvSpPr>
          <p:cNvPr id="4" name="Text 2"/>
          <p:cNvSpPr txBox="1"/>
          <p:nvPr/>
        </p:nvSpPr>
        <p:spPr>
          <a:xfrm>
            <a:off x="548640" y="1325880"/>
            <a:ext cx="11094415" cy="36576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Sin estos elementos el videojuego no cumple su propuesta. Son los únicos que el equipo se compromete a entregar.</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286000"/>
                <a:gridCol w="5239512"/>
                <a:gridCol w="3566160"/>
              </a:tblGrid>
              <a:tr h="6858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Elemento</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Descripción</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Criterio de terminado</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68580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Movimiento y cámara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Caminar, correr y brincar con cámara en tercera persona.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El oso se controla con teclado y mouse por todo el mapa sin atravesar objetos.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8580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Mapa La Juguetería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 escenario con 3 pasillos separados por estanterías y juguetes que bloquean la vista.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 recorren los 3 pasillos con colisiones y NavMesh correctos.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68580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Multijugador 1 vs 1</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Sala en línea con Photon PUN2; se sincronizan los 2 jugadores.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Dos PCs distintas se conectan a una sala y se ven moverse y atacar sin desincronizarse.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8580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NPCs de camuflaje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Osos casi idénticos con IA simple, simulados en cada cliente.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 jugador que camina sin arma entre los NPCs no se distingue de ellos en playtest.</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68580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Detección</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Correr, brincar o portar un arma delata al jugador.</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En playtest, el rival identifica al jugador cuando corre, brinca o porta un arma.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8580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Vida, daño y respawn</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Vida 100, golpe crítico a la cabeza y reaparición con vida completa.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 golpe a la cabeza elimina y el oso reaparece en otro punto con 100 de vida.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bl>
          </a:graphicData>
        </a:graphic>
      </p:graphicFrame>
      <p:sp>
        <p:nvSpPr>
          <p:cNvPr id="6" name="Text 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12 · Alcance — Esencial (1/2)</a:t>
            </a:r>
            <a:endParaRPr lang="en-US" sz="1000" dirty="0"/>
          </a:p>
        </p:txBody>
      </p:sp>
      <p:sp>
        <p:nvSpPr>
          <p:cNvPr id="7" name="Text 4"/>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ALCANCE DEL PROYECTO</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Esencial — MVP comprometido (2/2)</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86000"/>
                <a:gridCol w="5239512"/>
                <a:gridCol w="3566160"/>
              </a:tblGrid>
              <a:tr h="6126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Elemento</a:t>
                      </a:r>
                      <a:endParaRPr lang="en-US" sz="9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Descripción</a:t>
                      </a:r>
                      <a:endParaRPr lang="en-US" sz="9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Criterio de terminado</a:t>
                      </a:r>
                      <a:endParaRPr lang="en-US" sz="95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612648">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Aguja de coser</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Cuerpo a cuerpo, 25 de daño por golpe.</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Se recoge, elimina en 4 golpes, el daño se sincroniza y suma +200 o +350 según el caso.</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12648">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Pistola de dardos</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 distancia, 50 de daño, 6 dardos, aparece en la fase 2.</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Aparece con aviso, dispara 6 veces, elimina en 2 impactos y suma +400.</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612648">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Casco</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Boost invisible de vida extra.</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Al recogerlo la vida máxima sube a 125 en el HUD y no cambia la apariencia del oso.</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12648">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Rollo de hilo</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Curación de 25 de vida.</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Al usarlo la vida sube 25 sin pasar del máximo; sin él, la vida no aumenta nunca.</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612648">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Temporizador, fases y puntos</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Partida de 10-15 min en 3 fases; gana quien tenga más puntos.</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Las 3 fases se activan a tiempo y al final se muestra ganador (baúl) y perdedor (basura).</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12648">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HUD y menús básicos</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Vida, tiempo y puntos en pantalla; menú de inicio y resultados.</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Se inicia una partida desde el menú y el HUD se actualiza durante todo el duelo.</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612648">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Estadísticas en la PWA</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Al terminar cada partida se envían jugador, resultado y puntos al API (Django).</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El resultado de la partida aparece en las estadísticas y el ranking de la PWA.</a:t>
                      </a:r>
                      <a:endParaRPr lang="en-US" sz="95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13 · Alcance — Esencial (2/2)</a:t>
            </a:r>
            <a:endParaRPr lang="en-US" sz="1000" dirty="0"/>
          </a:p>
        </p:txBody>
      </p:sp>
      <p:sp>
        <p:nvSpPr>
          <p:cNvPr id="6" name="Text 3"/>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B5342E"/>
                </a:solidFill>
                <a:latin typeface="Calibri" pitchFamily="34" charset="0"/>
                <a:ea typeface="Calibri" pitchFamily="34" charset="-122"/>
                <a:cs typeface="Calibri" pitchFamily="34" charset="-120"/>
              </a:rPr>
              <a:t>ALCANCE DEL PROYECTO</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1A1A1A"/>
                </a:solidFill>
                <a:latin typeface="Bookman Old Style" pitchFamily="34" charset="0"/>
                <a:ea typeface="Bookman Old Style" pitchFamily="34" charset="-122"/>
                <a:cs typeface="Bookman Old Style" pitchFamily="34" charset="-120"/>
              </a:rPr>
              <a:t>Deseable — fuera del MVP</a:t>
            </a:r>
            <a:endParaRPr lang="en-US" sz="3200" dirty="0"/>
          </a:p>
        </p:txBody>
      </p:sp>
      <p:sp>
        <p:nvSpPr>
          <p:cNvPr id="4" name="Text 2"/>
          <p:cNvSpPr txBox="1"/>
          <p:nvPr/>
        </p:nvSpPr>
        <p:spPr>
          <a:xfrm>
            <a:off x="548640" y="1325880"/>
            <a:ext cx="11094415" cy="36576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No forman parte del compromiso de entrega. Solo se implementarán si todo lo Esencial está terminado y probado.</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286000"/>
                <a:gridCol w="5239512"/>
                <a:gridCol w="3566160"/>
              </a:tblGrid>
              <a:tr h="57607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Elemento</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Descripción</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Criterio de terminado</a:t>
                      </a:r>
                      <a:endParaRPr lang="en-US" sz="1000" dirty="0">
                        <a:latin typeface="Calibri" charset="0"/>
                        <a:ea typeface="Calibri" charset="0"/>
                        <a:cs typeface="Calibri" charset="0"/>
                      </a:endParaRPr>
                    </a:p>
                  </a:txBody>
                  <a:tcPr marL="76200" marR="76200" marT="50800" marB="50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57607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Escondites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Cajas de cartón y botes de basura donde el oso se mete.</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El jugador entra y sale y el rival no lo ve mientras está dentro.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7607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Armas adicionales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Espada de madera, lanzallamas, ratoneras explosivas, trampa de ratones.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Cada arma se recoge y funciona en red con el daño definido en Armas.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57607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Boosts adicionales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Bandana (+25 % fuerza) y gorro de hélice (+20 % velocidad), invisibles.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El atributo cambia mientras dura el boost y la apariencia no cambia.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7607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Caja de galletas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Curación de 50 de vida.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La vida sube 50 sin pasar del máximo.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57607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Segundo nivel: oficina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Escenario adicional de la tienda.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 puede jugar una partida completa en la oficina.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7607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Modo local de respaldo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Práctica contra NPCs si falla la conexión en línea.</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 demuestran las mecánicas sin internet.</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0"/>
                    </a:solidFill>
                  </a:tcPr>
                </a:tc>
              </a:tr>
              <a:tr h="576072">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Audio y voces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Música, efectos y voces de personajes.</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Cada acción principal tiene sonido y hay música de fondo.</a:t>
                      </a:r>
                      <a:endParaRPr lang="en-US" sz="1000" dirty="0">
                        <a:latin typeface="Calibri" charset="0"/>
                        <a:ea typeface="Calibri" charset="0"/>
                        <a:cs typeface="Calibri" charset="0"/>
                      </a:endParaRPr>
                    </a:p>
                  </a:txBody>
                  <a:tcPr marL="76200" marR="76200" marT="50800" marB="50800" anchor="t">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14 · Alcance — Deseable</a:t>
            </a:r>
            <a:endParaRPr lang="en-US" sz="1000" dirty="0"/>
          </a:p>
        </p:txBody>
      </p:sp>
      <p:sp>
        <p:nvSpPr>
          <p:cNvPr id="7" name="Text 4"/>
          <p:cNvSpPr txBox="1"/>
          <p:nvPr/>
        </p:nvSpPr>
        <p:spPr>
          <a:xfrm>
            <a:off x="6156655" y="6473952"/>
            <a:ext cx="5486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LITTLE BEARSTARDS · TURBO STUDIOS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D9A441"/>
                </a:solidFill>
                <a:latin typeface="Calibri" pitchFamily="34" charset="0"/>
                <a:ea typeface="Calibri" pitchFamily="34" charset="-122"/>
                <a:cs typeface="Calibri" pitchFamily="34" charset="-120"/>
              </a:rPr>
              <a:t>QUÉ CAMBIÓ DESDE LA PRIMERA VERSIÓN</a:t>
            </a:r>
            <a:endParaRPr lang="en-US" sz="1300" dirty="0"/>
          </a:p>
        </p:txBody>
      </p:sp>
      <p:sp>
        <p:nvSpPr>
          <p:cNvPr id="3" name="Text 1"/>
          <p:cNvSpPr txBox="1"/>
          <p:nvPr/>
        </p:nvSpPr>
        <p:spPr>
          <a:xfrm>
            <a:off x="548640" y="731520"/>
            <a:ext cx="11094415" cy="685800"/>
          </a:xfrm>
          <a:prstGeom prst="rect">
            <a:avLst/>
          </a:prstGeom>
          <a:noFill/>
          <a:ln/>
        </p:spPr>
        <p:txBody>
          <a:bodyPr wrap="square" lIns="0" tIns="0" rIns="0" bIns="0"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Ajustes posteriores a U1E4</a:t>
            </a:r>
            <a:endParaRPr lang="en-US" sz="3200" dirty="0"/>
          </a:p>
        </p:txBody>
      </p:sp>
      <p:sp>
        <p:nvSpPr>
          <p:cNvPr id="4" name="Shape 2"/>
          <p:cNvSpPr/>
          <p:nvPr/>
        </p:nvSpPr>
        <p:spPr>
          <a:xfrm>
            <a:off x="548640" y="1828800"/>
            <a:ext cx="11094415" cy="2377440"/>
          </a:xfrm>
          <a:prstGeom prst="rect">
            <a:avLst/>
          </a:prstGeom>
          <a:solidFill>
            <a:srgbClr val="2E2E2E"/>
          </a:solidFill>
          <a:ln/>
        </p:spPr>
      </p:sp>
      <p:sp>
        <p:nvSpPr>
          <p:cNvPr id="5" name="Text 3"/>
          <p:cNvSpPr txBox="1"/>
          <p:nvPr/>
        </p:nvSpPr>
        <p:spPr>
          <a:xfrm>
            <a:off x="868680" y="2103120"/>
            <a:ext cx="10058400" cy="274320"/>
          </a:xfrm>
          <a:prstGeom prst="rect">
            <a:avLst/>
          </a:prstGeom>
          <a:noFill/>
          <a:ln/>
        </p:spPr>
        <p:txBody>
          <a:bodyPr wrap="square" lIns="0" tIns="0" rIns="0" bIns="0" rtlCol="0" anchor="ctr"/>
          <a:lstStyle/>
          <a:p>
            <a:pPr indent="0" marL="0">
              <a:buNone/>
            </a:pPr>
            <a:r>
              <a:rPr lang="en-US" sz="1200" b="1" spc="150" kern="0" dirty="0">
                <a:solidFill>
                  <a:srgbClr val="B5342E"/>
                </a:solidFill>
                <a:latin typeface="Calibri" pitchFamily="34" charset="0"/>
                <a:ea typeface="Calibri" pitchFamily="34" charset="-122"/>
                <a:cs typeface="Calibri" pitchFamily="34" charset="-120"/>
              </a:rPr>
              <a:t>4-OCT-2026 · PISTOLA DE DARDOS</a:t>
            </a:r>
            <a:endParaRPr lang="en-US" sz="1200" dirty="0"/>
          </a:p>
        </p:txBody>
      </p:sp>
      <p:sp>
        <p:nvSpPr>
          <p:cNvPr id="6" name="Text 4"/>
          <p:cNvSpPr txBox="1"/>
          <p:nvPr/>
        </p:nvSpPr>
        <p:spPr>
          <a:xfrm>
            <a:off x="868680" y="2468880"/>
            <a:ext cx="1005840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Guillermo Martínez (PO) propuso que la pistola elimine en </a:t>
            </a:r>
            <a:pPr indent="0" marL="0">
              <a:buNone/>
            </a:pPr>
            <a:r>
              <a:rPr lang="en-US" sz="1400" b="1" dirty="0">
                <a:solidFill>
                  <a:srgbClr val="D9A441"/>
                </a:solidFill>
                <a:latin typeface="Calibri" pitchFamily="34" charset="0"/>
                <a:ea typeface="Calibri" pitchFamily="34" charset="-122"/>
                <a:cs typeface="Calibri" pitchFamily="34" charset="-120"/>
              </a:rPr>
              <a:t>2 tiros</a:t>
            </a:r>
            <a:pPr indent="0" marL="0">
              <a:buNone/>
            </a:pPr>
            <a:r>
              <a:rPr lang="en-US" sz="1400" dirty="0">
                <a:solidFill>
                  <a:srgbClr val="FFFFFF"/>
                </a:solidFill>
                <a:latin typeface="Calibri" pitchFamily="34" charset="0"/>
                <a:ea typeface="Calibri" pitchFamily="34" charset="-122"/>
                <a:cs typeface="Calibri" pitchFamily="34" charset="-120"/>
              </a:rPr>
              <a:t> en vez de 3, para que sin fallar se puedan eliminar hasta 3 rivales con los 6 dardos (+1,200 puntos) y así remontar una partida que se va perdiendo.</a:t>
            </a:r>
            <a:endParaRPr lang="en-US" sz="1400" dirty="0"/>
          </a:p>
        </p:txBody>
      </p:sp>
      <p:sp>
        <p:nvSpPr>
          <p:cNvPr id="7" name="Text 5"/>
          <p:cNvSpPr txBox="1"/>
          <p:nvPr/>
        </p:nvSpPr>
        <p:spPr>
          <a:xfrm>
            <a:off x="868680" y="3429000"/>
            <a:ext cx="10058400" cy="457200"/>
          </a:xfrm>
          <a:prstGeom prst="rect">
            <a:avLst/>
          </a:prstGeom>
          <a:noFill/>
          <a:ln/>
        </p:spPr>
        <p:txBody>
          <a:bodyPr wrap="square" lIns="0" tIns="0" rIns="0" bIns="0" rtlCol="0" anchor="ctr"/>
          <a:lstStyle/>
          <a:p>
            <a:pPr indent="0" marL="0">
              <a:buNone/>
            </a:pPr>
            <a:r>
              <a:rPr lang="en-US" sz="1400" dirty="0">
                <a:solidFill>
                  <a:srgbClr val="E8E3DA"/>
                </a:solidFill>
                <a:latin typeface="Calibri" pitchFamily="34" charset="0"/>
                <a:ea typeface="Calibri" pitchFamily="34" charset="-122"/>
                <a:cs typeface="Calibri" pitchFamily="34" charset="-120"/>
              </a:rPr>
              <a:t>Daño por dardo: </a:t>
            </a:r>
            <a:pPr indent="0" marL="0">
              <a:buNone/>
            </a:pPr>
            <a:r>
              <a:rPr lang="en-US" sz="1400" b="1" dirty="0">
                <a:solidFill>
                  <a:srgbClr val="FFFFFF"/>
                </a:solidFill>
                <a:latin typeface="Calibri" pitchFamily="34" charset="0"/>
                <a:ea typeface="Calibri" pitchFamily="34" charset="-122"/>
                <a:cs typeface="Calibri" pitchFamily="34" charset="-120"/>
              </a:rPr>
              <a:t>35  →  50</a:t>
            </a:r>
            <a:pPr indent="0" marL="0">
              <a:buNone/>
            </a:pPr>
            <a:r>
              <a:rPr lang="en-US" sz="1400" dirty="0">
                <a:solidFill>
                  <a:srgbClr val="E8E3DA"/>
                </a:solidFill>
                <a:latin typeface="Calibri" pitchFamily="34" charset="0"/>
                <a:ea typeface="Calibri" pitchFamily="34" charset="-122"/>
                <a:cs typeface="Calibri" pitchFamily="34" charset="-120"/>
              </a:rPr>
              <a:t>        Impactos para eliminar: </a:t>
            </a:r>
            <a:pPr indent="0" marL="0">
              <a:buNone/>
            </a:pPr>
            <a:r>
              <a:rPr lang="en-US" sz="1400" b="1" dirty="0">
                <a:solidFill>
                  <a:srgbClr val="FFFFFF"/>
                </a:solidFill>
                <a:latin typeface="Calibri" pitchFamily="34" charset="0"/>
                <a:ea typeface="Calibri" pitchFamily="34" charset="-122"/>
                <a:cs typeface="Calibri" pitchFamily="34" charset="-120"/>
              </a:rPr>
              <a:t>3 (4 con casco)  →  2 (3 con casco)</a:t>
            </a:r>
            <a:endParaRPr lang="en-US" sz="1400" dirty="0"/>
          </a:p>
        </p:txBody>
      </p:sp>
      <p:sp>
        <p:nvSpPr>
          <p:cNvPr id="8" name="Text 6"/>
          <p:cNvSpPr txBox="1"/>
          <p:nvPr/>
        </p:nvSpPr>
        <p:spPr>
          <a:xfrm>
            <a:off x="868680" y="3931920"/>
            <a:ext cx="10058400" cy="27432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Actualizado en el GDD v1.0 y en este documento (secciones Armas y Alcance del proyecto).</a:t>
            </a:r>
            <a:endParaRPr lang="en-US" sz="1100" dirty="0"/>
          </a:p>
        </p:txBody>
      </p:sp>
      <p:sp>
        <p:nvSpPr>
          <p:cNvPr id="9" name="Text 7"/>
          <p:cNvSpPr txBox="1"/>
          <p:nvPr/>
        </p:nvSpPr>
        <p:spPr>
          <a:xfrm>
            <a:off x="548640" y="6309360"/>
            <a:ext cx="11094415"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Documento vivo en docs/entregas/u1e4-documento-diseno.md · GDD completo en docs/game-design/gdd-v1.0/</a:t>
            </a:r>
            <a:endParaRPr lang="en-US" sz="1000" dirty="0"/>
          </a:p>
        </p:txBody>
      </p:sp>
    </p:spTree>
  </p:cSld>
  <p:clrMapOvr>
    <a:masterClrMapping/>
  </p:clrMapOvr>
</p:sld>
</file>

<file path=ppt/theme/theme1.xml><?xml version="1.0" encoding="utf-8"?>
<a:theme xmlns:a="http://schemas.openxmlformats.org/drawingml/2006/main" name="Bearstards">
  <a:themeElements>
    <a:clrScheme name="Bearstards">
      <a:dk1>
        <a:srgbClr val="1A1A1A"/>
      </a:dk1>
      <a:lt1>
        <a:srgbClr val="FFFFFF"/>
      </a:lt1>
      <a:dk2>
        <a:srgbClr val="2E2E2E"/>
      </a:dk2>
      <a:lt2>
        <a:srgbClr val="F2F2F0"/>
      </a:lt2>
      <a:accent1>
        <a:srgbClr val="B5342E"/>
      </a:accent1>
      <a:accent2>
        <a:srgbClr val="6B6B6B"/>
      </a:accent2>
      <a:accent3>
        <a:srgbClr val="D9A441"/>
      </a:accent3>
      <a:accent4>
        <a:srgbClr val="3F4A3A"/>
      </a:accent4>
      <a:accent5>
        <a:srgbClr val="8C8C8C"/>
      </a:accent5>
      <a:accent6>
        <a:srgbClr val="E8E3DA"/>
      </a:accent6>
      <a:hlink>
        <a:srgbClr val="B5342E"/>
      </a:hlink>
      <a:folHlink>
        <a:srgbClr val="6B6B6B"/>
      </a:folHlink>
    </a:clrScheme>
    <a:fontScheme name="Bearstards">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2026-10-06T02:29:00Z</dcterms:created>
  <dcterms:modified xsi:type="dcterms:W3CDTF">2026-10-06T02:29:00Z</dcterms:modified>
</cp:coreProperties>
</file>